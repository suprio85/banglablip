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76" r:id="rId8"/>
    <p:sldId id="259" r:id="rId9"/>
    <p:sldId id="274" r:id="rId10"/>
    <p:sldId id="261" r:id="rId11"/>
    <p:sldId id="275" r:id="rId12"/>
    <p:sldId id="262" r:id="rId13"/>
    <p:sldId id="263" r:id="rId14"/>
    <p:sldId id="264" r:id="rId15"/>
    <p:sldId id="267" r:id="rId16"/>
    <p:sldId id="268" r:id="rId17"/>
    <p:sldId id="266" r:id="rId18"/>
    <p:sldId id="270" r:id="rId19"/>
    <p:sldId id="265" r:id="rId20"/>
    <p:sldId id="269" r:id="rId21"/>
    <p:sldId id="277" r:id="rId22"/>
    <p:sldId id="282" r:id="rId23"/>
    <p:sldId id="271" r:id="rId24"/>
    <p:sldId id="278" r:id="rId25"/>
    <p:sldId id="280" r:id="rId26"/>
    <p:sldId id="279" r:id="rId27"/>
    <p:sldId id="281" r:id="rId28"/>
    <p:sldId id="283" r:id="rId29"/>
    <p:sldId id="27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1D4"/>
    <a:srgbClr val="A3603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2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1188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B2314"/>
                </a:solidFill>
                <a:latin typeface="Georgia"/>
              </a:defRPr>
            </a:pPr>
            <a:r>
              <a:t>BanglaBLIP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4C35"/>
                </a:solidFill>
                <a:latin typeface="Georgia"/>
              </a:defRPr>
            </a:pPr>
            <a:r>
              <a:t>Bengali Image Captioning with Vision-Language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81054" y="4220094"/>
            <a:ext cx="33735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4C35"/>
                </a:solidFill>
                <a:latin typeface="Georgia"/>
              </a:defRPr>
            </a:pPr>
            <a:r>
              <a:rPr dirty="0"/>
              <a:t>2105090</a:t>
            </a:r>
            <a:r>
              <a:rPr lang="en-US" dirty="0"/>
              <a:t>   Nayeem Uz Zaman</a:t>
            </a:r>
            <a:r>
              <a:rPr dirty="0"/>
              <a:t>    </a:t>
            </a:r>
            <a:endParaRPr lang="en-US" dirty="0"/>
          </a:p>
          <a:p>
            <a:pPr algn="ctr">
              <a:defRPr sz="1600" b="0">
                <a:solidFill>
                  <a:srgbClr val="6B4C35"/>
                </a:solidFill>
                <a:latin typeface="Georgia"/>
              </a:defRPr>
            </a:pPr>
            <a:r>
              <a:rPr dirty="0"/>
              <a:t>2105085  </a:t>
            </a:r>
            <a:r>
              <a:rPr lang="en-US" dirty="0"/>
              <a:t>Suprio Paul</a:t>
            </a:r>
            <a:br>
              <a:rPr lang="en-US" dirty="0"/>
            </a:br>
            <a:r>
              <a:rPr dirty="0"/>
              <a:t>2105073</a:t>
            </a:r>
            <a:r>
              <a:rPr lang="en-US" dirty="0"/>
              <a:t> Himel Sutradhar</a:t>
            </a:r>
          </a:p>
          <a:p>
            <a:pPr algn="ctr">
              <a:defRPr sz="1600" b="0">
                <a:solidFill>
                  <a:srgbClr val="6B4C35"/>
                </a:solidFill>
                <a:latin typeface="Georgia"/>
              </a:defRPr>
            </a:pPr>
            <a:r>
              <a:rPr lang="en-US" dirty="0"/>
              <a:t>2105061 </a:t>
            </a:r>
            <a:r>
              <a:rPr lang="en-US" dirty="0" err="1"/>
              <a:t>Ibtidia</a:t>
            </a:r>
            <a:r>
              <a:rPr lang="en-US" dirty="0"/>
              <a:t> Bin Ahmed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 / 18</a:t>
            </a:r>
          </a:p>
        </p:txBody>
      </p:sp>
      <p:pic>
        <p:nvPicPr>
          <p:cNvPr id="11" name="Picture 10" descr="6233052738816248847-ezremove">
            <a:extLst>
              <a:ext uri="{FF2B5EF4-FFF2-40B4-BE49-F238E27FC236}">
                <a16:creationId xmlns:a16="http://schemas.microsoft.com/office/drawing/2014/main" id="{3ED251C8-1702-7D97-7282-7A411A71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88" t="12917"/>
          <a:stretch>
            <a:fillRect/>
          </a:stretch>
        </p:blipFill>
        <p:spPr>
          <a:xfrm>
            <a:off x="9875520" y="4835525"/>
            <a:ext cx="2316480" cy="2022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dirty="0"/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7C52"/>
                </a:solidFill>
                <a:latin typeface="Georgia"/>
              </a:defRPr>
            </a:pPr>
            <a:r>
              <a:t>Why does Bangla Image Captioning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599"/>
            <a:ext cx="6223462" cy="45719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36079" y="1650076"/>
            <a:ext cx="5029200" cy="3931919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64679" y="1883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2314"/>
                </a:solidFill>
                <a:latin typeface="Georgia"/>
              </a:defRPr>
            </a:pPr>
            <a:r>
              <a:rPr dirty="0"/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6722" y="2545779"/>
            <a:ext cx="45719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native Bengali multimodal captioning model exists at scale.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pipelines rely on English-to-Bengali translation, losing cultural context.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VLMs are not fine-tuned on Bengali visual semantics or annotation style.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Bangla image-caption datasets create a data bottleneck.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2 /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EC747-9FF6-48A1-DFB7-E7C4CE928EA5}"/>
              </a:ext>
            </a:extLst>
          </p:cNvPr>
          <p:cNvSpPr txBox="1"/>
          <p:nvPr/>
        </p:nvSpPr>
        <p:spPr>
          <a:xfrm>
            <a:off x="731520" y="1941077"/>
            <a:ext cx="52120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dirty="0"/>
          </a:p>
          <a:p>
            <a:r>
              <a:rPr lang="en-US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Despite rapid advances in Vision-Language Models (VLMs) such as GPT-4V and CLIP, these systems perform poorly on low-resource languages like Bengali ,  the 7th most spoken language globally.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rd5">
            <a:extLst>
              <a:ext uri="{FF2B5EF4-FFF2-40B4-BE49-F238E27FC236}">
                <a16:creationId xmlns:a16="http://schemas.microsoft.com/office/drawing/2014/main" id="{8AAC3595-99C6-900A-EFAE-A942DCEB8B8B}"/>
              </a:ext>
            </a:extLst>
          </p:cNvPr>
          <p:cNvSpPr>
            <a:spLocks noGrp="1"/>
          </p:cNvSpPr>
          <p:nvPr/>
        </p:nvSpPr>
        <p:spPr>
          <a:xfrm>
            <a:off x="753929" y="1621054"/>
            <a:ext cx="3900000" cy="3793500"/>
          </a:xfrm>
          <a:prstGeom prst="rect">
            <a:avLst/>
          </a:prstGeom>
          <a:solidFill>
            <a:srgbClr val="FAF6EE"/>
          </a:solidFill>
          <a:ln w="12700">
            <a:solidFill>
              <a:srgbClr val="D4C5A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568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Related Work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005839"/>
            <a:ext cx="6992389" cy="45719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15440" y="5776595"/>
            <a:ext cx="9067800" cy="846513"/>
          </a:xfrm>
          <a:prstGeom prst="roundRect">
            <a:avLst/>
          </a:prstGeom>
          <a:solidFill>
            <a:srgbClr val="A36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15440" y="5907465"/>
            <a:ext cx="8869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We need a bridge between powerful visual encoders and a native Bengali LM</a:t>
            </a:r>
            <a:br>
              <a:rPr dirty="0"/>
            </a:br>
            <a:r>
              <a:rPr dirty="0"/>
              <a:t>— not translation, not brute-force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3 / 18</a:t>
            </a:r>
          </a:p>
        </p:txBody>
      </p:sp>
      <p:sp>
        <p:nvSpPr>
          <p:cNvPr id="21" name="CardBody5">
            <a:extLst>
              <a:ext uri="{FF2B5EF4-FFF2-40B4-BE49-F238E27FC236}">
                <a16:creationId xmlns:a16="http://schemas.microsoft.com/office/drawing/2014/main" id="{68997546-9FDD-3648-E479-779F33E709FA}"/>
              </a:ext>
            </a:extLst>
          </p:cNvPr>
          <p:cNvSpPr/>
          <p:nvPr/>
        </p:nvSpPr>
        <p:spPr>
          <a:xfrm>
            <a:off x="888752" y="2312434"/>
            <a:ext cx="3769646" cy="31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5C3D2E"/>
                </a:solidFill>
                <a:latin typeface="Georgia" pitchFamily="34" charset="0"/>
              </a:rPr>
              <a:t>CNN-Transformer Based Encoder-Decoder Network (0ct 2021)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5C3D2E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Bhuiyan et al. (Heliyon 2024)</a:t>
            </a:r>
            <a:endParaRPr lang="en-US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 encoder + BiGRU decoder with context-aware attention.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mBLIP, mPLUG-Owl</a:t>
            </a:r>
            <a:endParaRPr lang="en-US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VLMs — weak Bengali support, no dedicated fine-tuning.</a:t>
            </a:r>
            <a:endParaRPr lang="en-US" dirty="0"/>
          </a:p>
        </p:txBody>
      </p:sp>
      <p:sp>
        <p:nvSpPr>
          <p:cNvPr id="22" name="CardSep5">
            <a:extLst>
              <a:ext uri="{FF2B5EF4-FFF2-40B4-BE49-F238E27FC236}">
                <a16:creationId xmlns:a16="http://schemas.microsoft.com/office/drawing/2014/main" id="{B14B4A8D-6798-E5ED-E926-BC72B6632A83}"/>
              </a:ext>
            </a:extLst>
          </p:cNvPr>
          <p:cNvSpPr>
            <a:spLocks noGrp="1"/>
          </p:cNvSpPr>
          <p:nvPr/>
        </p:nvSpPr>
        <p:spPr>
          <a:xfrm>
            <a:off x="888752" y="2106035"/>
            <a:ext cx="3700000" cy="25400"/>
          </a:xfrm>
          <a:prstGeom prst="rect">
            <a:avLst/>
          </a:prstGeom>
          <a:solidFill>
            <a:srgbClr val="9A7B4B"/>
          </a:solidFill>
          <a:ln w="12700">
            <a:solidFill>
              <a:srgbClr val="9A7B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C03F23-06A0-F658-1439-F8F969699F97}"/>
              </a:ext>
            </a:extLst>
          </p:cNvPr>
          <p:cNvSpPr txBox="1"/>
          <p:nvPr/>
        </p:nvSpPr>
        <p:spPr>
          <a:xfrm>
            <a:off x="823575" y="1644370"/>
            <a:ext cx="370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000" dirty="0"/>
          </a:p>
        </p:txBody>
      </p:sp>
      <p:sp>
        <p:nvSpPr>
          <p:cNvPr id="26" name="Card15">
            <a:extLst>
              <a:ext uri="{FF2B5EF4-FFF2-40B4-BE49-F238E27FC236}">
                <a16:creationId xmlns:a16="http://schemas.microsoft.com/office/drawing/2014/main" id="{370AB53A-86FC-AAF0-17E6-EF7B6853747E}"/>
              </a:ext>
            </a:extLst>
          </p:cNvPr>
          <p:cNvSpPr>
            <a:spLocks noGrp="1"/>
          </p:cNvSpPr>
          <p:nvPr/>
        </p:nvSpPr>
        <p:spPr>
          <a:xfrm>
            <a:off x="6050360" y="1367881"/>
            <a:ext cx="4668982" cy="4317278"/>
          </a:xfrm>
          <a:prstGeom prst="rect">
            <a:avLst/>
          </a:prstGeom>
          <a:solidFill>
            <a:srgbClr val="FAF6EE"/>
          </a:solidFill>
          <a:ln w="12700">
            <a:solidFill>
              <a:srgbClr val="D4C5A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Title15">
            <a:extLst>
              <a:ext uri="{FF2B5EF4-FFF2-40B4-BE49-F238E27FC236}">
                <a16:creationId xmlns:a16="http://schemas.microsoft.com/office/drawing/2014/main" id="{F475AE98-8D80-BF31-4E1B-5D7DD132FE1E}"/>
              </a:ext>
            </a:extLst>
          </p:cNvPr>
          <p:cNvSpPr/>
          <p:nvPr/>
        </p:nvSpPr>
        <p:spPr>
          <a:xfrm>
            <a:off x="6249340" y="1530927"/>
            <a:ext cx="4065368" cy="60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Limitations</a:t>
            </a:r>
            <a:endParaRPr lang="en-US" sz="1400" dirty="0"/>
          </a:p>
        </p:txBody>
      </p:sp>
      <p:sp>
        <p:nvSpPr>
          <p:cNvPr id="28" name="CardSep15">
            <a:extLst>
              <a:ext uri="{FF2B5EF4-FFF2-40B4-BE49-F238E27FC236}">
                <a16:creationId xmlns:a16="http://schemas.microsoft.com/office/drawing/2014/main" id="{A5BAC418-2366-1AD2-D216-E0421B35D895}"/>
              </a:ext>
            </a:extLst>
          </p:cNvPr>
          <p:cNvSpPr>
            <a:spLocks noGrp="1"/>
          </p:cNvSpPr>
          <p:nvPr/>
        </p:nvSpPr>
        <p:spPr>
          <a:xfrm>
            <a:off x="6249340" y="2232369"/>
            <a:ext cx="3850624" cy="45719"/>
          </a:xfrm>
          <a:prstGeom prst="rect">
            <a:avLst/>
          </a:prstGeom>
          <a:solidFill>
            <a:srgbClr val="9A7B4B"/>
          </a:solidFill>
          <a:ln w="12700">
            <a:solidFill>
              <a:srgbClr val="9A7B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CardBody15">
            <a:extLst>
              <a:ext uri="{FF2B5EF4-FFF2-40B4-BE49-F238E27FC236}">
                <a16:creationId xmlns:a16="http://schemas.microsoft.com/office/drawing/2014/main" id="{23F652C4-B250-00C5-943E-25CC20A718DB}"/>
              </a:ext>
            </a:extLst>
          </p:cNvPr>
          <p:cNvSpPr/>
          <p:nvPr/>
        </p:nvSpPr>
        <p:spPr>
          <a:xfrm>
            <a:off x="6309340" y="2438499"/>
            <a:ext cx="4005368" cy="329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Translation-based: English captions machine-translated — cultural nuance lost.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visual grounding: CNN-LSTM models lack cross-modal attention depth.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fine-tuning demands prohibitive GPU resources.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datasets: Models trained on &lt;10K samples; poor generalisation.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Q-Former equivalent: No lightweight visual-to-language bridge for Bengali.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gap: Most work uses only BLEU-4; ignores METEOR and CIDEr.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9A7B-9900-3FC1-9BD9-6539866D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23838DA6-C1B5-3E50-637A-5B4F5FB6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6BDA81-ECA7-08C7-2E34-C773D72B3C76}"/>
              </a:ext>
            </a:extLst>
          </p:cNvPr>
          <p:cNvSpPr txBox="1"/>
          <p:nvPr/>
        </p:nvSpPr>
        <p:spPr>
          <a:xfrm>
            <a:off x="752302" y="268085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dirty="0"/>
              <a:t>Our Approach</a:t>
            </a:r>
            <a:r>
              <a:rPr lang="en-US" dirty="0"/>
              <a:t> - 1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D45F8-2014-BEEA-8A90-F315C71660EB}"/>
              </a:ext>
            </a:extLst>
          </p:cNvPr>
          <p:cNvSpPr txBox="1"/>
          <p:nvPr/>
        </p:nvSpPr>
        <p:spPr>
          <a:xfrm>
            <a:off x="731520" y="9144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7C52"/>
                </a:solidFill>
                <a:latin typeface="Georgia"/>
              </a:defRPr>
            </a:pPr>
            <a:r>
              <a:rPr lang="en-US" dirty="0"/>
              <a:t>VIT + DECODER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5E5FA-BF3D-BEAD-B562-08972C2BBD9E}"/>
              </a:ext>
            </a:extLst>
          </p:cNvPr>
          <p:cNvSpPr/>
          <p:nvPr/>
        </p:nvSpPr>
        <p:spPr>
          <a:xfrm>
            <a:off x="731520" y="137160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0AC5AD-1D30-14F0-5C27-D8B69ECDD2F0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4 / 18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13D47A-5B1D-8E48-D4C3-83C12A77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2" y="1630141"/>
            <a:ext cx="6130574" cy="3346671"/>
          </a:xfrm>
          <a:prstGeom prst="roundRect">
            <a:avLst/>
          </a:prstGeom>
        </p:spPr>
      </p:pic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68C2CEC7-366A-52F2-1E7B-C99A87B172ED}"/>
              </a:ext>
            </a:extLst>
          </p:cNvPr>
          <p:cNvSpPr/>
          <p:nvPr/>
        </p:nvSpPr>
        <p:spPr>
          <a:xfrm>
            <a:off x="436416" y="5284573"/>
            <a:ext cx="11554693" cy="1473107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endParaRPr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321631-AB22-FC61-107F-DC8827147179}"/>
              </a:ext>
            </a:extLst>
          </p:cNvPr>
          <p:cNvSpPr txBox="1"/>
          <p:nvPr/>
        </p:nvSpPr>
        <p:spPr>
          <a:xfrm>
            <a:off x="674867" y="5307617"/>
            <a:ext cx="1121233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2314"/>
                </a:solidFill>
                <a:latin typeface="Georgia"/>
              </a:defRPr>
            </a:pPr>
            <a:r>
              <a:rPr lang="en-US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3B2314"/>
                </a:solidFill>
                <a:latin typeface="Georgia"/>
              </a:defRPr>
            </a:pPr>
            <a:r>
              <a:rPr lang="en-GB" sz="1400" b="1" dirty="0"/>
              <a:t>257 raw visual tokens overwhelm the BanglaT5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3B2314"/>
                </a:solidFill>
                <a:latin typeface="Georgia"/>
              </a:defRPr>
            </a:pPr>
            <a:r>
              <a:rPr lang="en-GB" sz="1400" b="1" dirty="0"/>
              <a:t>No cross-modal attention to query the image for caption-relevant content</a:t>
            </a:r>
          </a:p>
          <a:p>
            <a:pPr algn="ctr">
              <a:defRPr sz="1800" b="1">
                <a:solidFill>
                  <a:srgbClr val="3B2314"/>
                </a:solidFill>
                <a:latin typeface="Georgia"/>
              </a:defRPr>
            </a:pPr>
            <a:r>
              <a:rPr lang="en-GB" b="1" dirty="0"/>
              <a:t>We needed a bridge to solve this.</a:t>
            </a:r>
            <a:endParaRPr lang="en-GB" sz="1100" b="1" dirty="0"/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3B2314"/>
                </a:solidFill>
                <a:latin typeface="Georgia"/>
              </a:defRPr>
            </a:pPr>
            <a:endParaRPr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B0A0E1-72BA-CDBF-3A24-F3EDA0C0A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591" y="1622286"/>
            <a:ext cx="5530617" cy="340449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7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7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302" y="268085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lang="en-US" dirty="0"/>
              <a:t>Final</a:t>
            </a:r>
            <a:r>
              <a:rPr dirty="0"/>
              <a:t>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7C52"/>
                </a:solidFill>
                <a:latin typeface="Georgia"/>
              </a:defRPr>
            </a:pPr>
            <a:r>
              <a:t>Adapting BLIP-2 for native Bengali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541222" cy="2784722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-3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Leverage BLIP-2's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01752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Frozen </a:t>
            </a:r>
            <a:r>
              <a:rPr sz="1400" dirty="0" err="1"/>
              <a:t>ViT</a:t>
            </a:r>
            <a:r>
              <a:rPr sz="1400" dirty="0"/>
              <a:t>/EVA-CLIP encoder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Preserves rich visual representations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No need to train vision from scratch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~1B params kept frozen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9902" y="1690641"/>
            <a:ext cx="3636818" cy="2779222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1" name="Picture 10" descr="image-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7452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87087" y="22631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Q-Former as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66942"/>
            <a:ext cx="336141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Extracts language-informative visual tokens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32 learnable queries attend to image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Bridges modality gap elegantly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The key missing piece from Phase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27909"/>
            <a:ext cx="3750425" cy="2846395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-3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658" y="1869172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t>BanglaT5 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239" y="2834640"/>
            <a:ext cx="342761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Native Bengali text generation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</a:t>
            </a:r>
            <a:r>
              <a:rPr sz="1400" dirty="0" err="1"/>
              <a:t>csebuetnlp</a:t>
            </a:r>
            <a:r>
              <a:rPr sz="1400" dirty="0"/>
              <a:t>/banglat5 (BUET NLP)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</a:t>
            </a:r>
            <a:r>
              <a:rPr sz="1400" dirty="0" err="1"/>
              <a:t>LoRA</a:t>
            </a:r>
            <a:r>
              <a:rPr sz="1400" dirty="0"/>
              <a:t> adapters for efficient fine-tuning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400" dirty="0"/>
              <a:t>▸  Generates fluent </a:t>
            </a:r>
            <a:r>
              <a:rPr lang="en-US" sz="1400" dirty="0"/>
              <a:t>Bangla</a:t>
            </a:r>
            <a:r>
              <a:rPr sz="1400" dirty="0"/>
              <a:t> captions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253" y="5174057"/>
            <a:ext cx="10889975" cy="1535918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60667" y="5301425"/>
            <a:ext cx="9784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2314"/>
                </a:solidFill>
                <a:latin typeface="Georgia"/>
              </a:defRPr>
            </a:pPr>
            <a:r>
              <a:rPr dirty="0"/>
              <a:t>Image  →  </a:t>
            </a:r>
            <a:r>
              <a:rPr dirty="0" err="1"/>
              <a:t>ViT</a:t>
            </a:r>
            <a:r>
              <a:rPr dirty="0"/>
              <a:t> (Frozen)  →  Q-Former  →  MLP Projection  →  BanglaT5 + </a:t>
            </a:r>
            <a:r>
              <a:rPr lang="en-US" dirty="0" err="1"/>
              <a:t>Q</a:t>
            </a:r>
            <a:r>
              <a:rPr dirty="0" err="1"/>
              <a:t>LoRA</a:t>
            </a:r>
            <a:r>
              <a:rPr lang="en-US" dirty="0"/>
              <a:t>+</a:t>
            </a:r>
            <a:r>
              <a:rPr dirty="0"/>
              <a:t>  → </a:t>
            </a:r>
            <a:r>
              <a:rPr lang="en-US" dirty="0"/>
              <a:t>Bengali Caption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106978" y="6062009"/>
            <a:ext cx="9784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67C52"/>
                </a:solidFill>
                <a:latin typeface="Georgia"/>
              </a:defRPr>
            </a:pPr>
            <a:r>
              <a:rPr dirty="0"/>
              <a:t>Each component choice is justified by a specific design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5A8-DDA5-71B0-E77F-6F568335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B520F9B5-33A4-237F-27E1-FEB31E1F3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-34359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FDC899-15CA-C81E-123A-C9F0EFB5C44A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Understanding BLIP-2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6E0F5-B546-B244-8CB9-CD6C51FD3A60}"/>
              </a:ext>
            </a:extLst>
          </p:cNvPr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7C52"/>
                </a:solidFill>
                <a:latin typeface="Georgia"/>
              </a:defRPr>
            </a:pPr>
            <a:r>
              <a:t>Bootstrapping Language-Image Pre-training  (Li et al., ICML 2023)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D00B7-C4B0-A698-DD40-41BE72608D1C}"/>
              </a:ext>
            </a:extLst>
          </p:cNvPr>
          <p:cNvSpPr/>
          <p:nvPr/>
        </p:nvSpPr>
        <p:spPr>
          <a:xfrm>
            <a:off x="731520" y="118872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03582C3-07C1-7510-E599-6CCAC577743B}"/>
              </a:ext>
            </a:extLst>
          </p:cNvPr>
          <p:cNvSpPr/>
          <p:nvPr/>
        </p:nvSpPr>
        <p:spPr>
          <a:xfrm>
            <a:off x="822959" y="5615178"/>
            <a:ext cx="11247120" cy="822960"/>
          </a:xfrm>
          <a:prstGeom prst="round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641F20-3166-4F0E-8F48-653220E5F6B3}"/>
              </a:ext>
            </a:extLst>
          </p:cNvPr>
          <p:cNvSpPr txBox="1"/>
          <p:nvPr/>
        </p:nvSpPr>
        <p:spPr>
          <a:xfrm>
            <a:off x="870065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BLIP-2 bridges vision and language via a lightweight Q-Former — only ~188M trainable params vs billions frozen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2325BA-00C5-1381-0635-B7DD4CB7571E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5 / 18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3771B7A-8E69-B170-F568-722614426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5136"/>
            <a:ext cx="10975571" cy="3975722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FF1D5C2-40FC-1670-4E2D-2391EAB3D6EF}"/>
              </a:ext>
            </a:extLst>
          </p:cNvPr>
          <p:cNvCxnSpPr/>
          <p:nvPr/>
        </p:nvCxnSpPr>
        <p:spPr>
          <a:xfrm rot="10800000" flipV="1">
            <a:off x="3027218" y="3872345"/>
            <a:ext cx="498764" cy="26627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43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1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The Q-Former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7C52"/>
                </a:solidFill>
                <a:latin typeface="Georgia"/>
              </a:defRPr>
            </a:pPr>
            <a:r>
              <a:t>The key to bridging vision and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qformer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6858000" cy="5029200"/>
          </a:xfrm>
          <a:prstGeom prst="round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38912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32 learnable query tokens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attend to image features via Cross-Attention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endParaRPr dirty="0"/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Self-Attention among queries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captures inter-token relationships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endParaRPr dirty="0"/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Output: language-aligned visual tokens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ready for any LM decoder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endParaRPr dirty="0"/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Why Q-Former matters for us:</a:t>
            </a:r>
          </a:p>
          <a:p>
            <a:pPr>
              <a:spcAft>
                <a:spcPts val="720"/>
              </a:spcAft>
              <a:defRPr sz="1500">
                <a:solidFill>
                  <a:srgbClr val="6B4C35"/>
                </a:solidFill>
                <a:latin typeface="Georgia"/>
              </a:defRPr>
            </a:pPr>
            <a:r>
              <a:rPr dirty="0"/>
              <a:t>It solves the modality gap that caused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F7CC-B72D-41E2-8EB4-DB20E9F7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85C434F1-8E47-C54E-5AA4-51F87854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DC5857-FE69-31FA-AD83-B558D678F62D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Understanding BLIP-2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C2B74-68BF-17D2-A963-4D7A8788223E}"/>
              </a:ext>
            </a:extLst>
          </p:cNvPr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7C52"/>
                </a:solidFill>
                <a:latin typeface="Georgia"/>
              </a:defRPr>
            </a:pPr>
            <a:r>
              <a:t>Bootstrapping Language-Image Pre-training  (Li et al., ICML 2023)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7C477-339E-89DD-DB2B-9B76BFE3F2F9}"/>
              </a:ext>
            </a:extLst>
          </p:cNvPr>
          <p:cNvSpPr/>
          <p:nvPr/>
        </p:nvSpPr>
        <p:spPr>
          <a:xfrm>
            <a:off x="731520" y="118872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03DCB3-76EE-F4BF-981E-F5150CDBB22F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5 / 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1878F5-3BD1-4F52-7B7B-1569AF970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75460"/>
            <a:ext cx="10895924" cy="327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1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3854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5884" y="381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rPr dirty="0"/>
              <a:t>Why BanglaT5?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884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67C52"/>
                </a:solidFill>
                <a:latin typeface="Georgia"/>
              </a:defRPr>
            </a:pPr>
            <a:r>
              <a:rPr dirty="0"/>
              <a:t>Choosing the right language model for Bengali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46116" y="110490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4219" y="1258786"/>
            <a:ext cx="5115793" cy="2949449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Picture 6" descr="image-3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20" y="144817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9421" y="192321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BanglaT5 (</a:t>
            </a:r>
            <a:r>
              <a:rPr dirty="0" err="1"/>
              <a:t>csebuetnlp</a:t>
            </a:r>
            <a:r>
              <a:rPr dirty="0"/>
              <a:t>/banglat5)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08" y="2243867"/>
            <a:ext cx="500703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▸  Developed by BUET CSE NLP group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▸  Pre-trained on large-scale Bengali corpus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▸  T5 architecture: Encoder-Decoder (Seq2Seq)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▸  Native Bengali tokenizer — handles complex conjuncts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▸  Supports text generation out of the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7 / 18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833217-47E8-2F3A-93EF-3CB6B49FB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214" y="2071004"/>
            <a:ext cx="6450015" cy="1877437"/>
          </a:xfrm>
          <a:prstGeom prst="roundRect">
            <a:avLst/>
          </a:prstGeom>
        </p:spPr>
      </p:pic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1D537E6D-1C1E-4820-E8CA-BBE6A5B743E8}"/>
              </a:ext>
            </a:extLst>
          </p:cNvPr>
          <p:cNvSpPr/>
          <p:nvPr/>
        </p:nvSpPr>
        <p:spPr>
          <a:xfrm>
            <a:off x="174218" y="4364040"/>
            <a:ext cx="5115793" cy="243894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 err="1"/>
              <a:t>mBART</a:t>
            </a:r>
            <a:r>
              <a:rPr lang="en-GB" sz="1600" dirty="0"/>
              <a:t> / mT5 (multilingual):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Bengali underrepresented in training data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Tokenizer splits Bengali chars inefficiently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9023EC-8A76-48AF-B605-B796FC370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524" y="4431923"/>
            <a:ext cx="6404705" cy="1968877"/>
          </a:xfrm>
          <a:prstGeom prst="round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95ED097-A567-03B6-692C-0B88F8411A1B}"/>
              </a:ext>
            </a:extLst>
          </p:cNvPr>
          <p:cNvSpPr txBox="1"/>
          <p:nvPr/>
        </p:nvSpPr>
        <p:spPr>
          <a:xfrm>
            <a:off x="5685214" y="1363980"/>
            <a:ext cx="6165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lang="en-US" sz="3200" dirty="0"/>
              <a:t>R</a:t>
            </a:r>
            <a:r>
              <a:rPr lang="en-GB" sz="3200" dirty="0"/>
              <a:t>elated Papers: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8C158C-F94B-3BFF-16B1-4C5F45FDC886}"/>
              </a:ext>
            </a:extLst>
          </p:cNvPr>
          <p:cNvSpPr txBox="1"/>
          <p:nvPr/>
        </p:nvSpPr>
        <p:spPr>
          <a:xfrm>
            <a:off x="443691" y="469490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Why Not Other Models?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BBLIP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Our custom pipeline: Image to Bengali caption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175" y="1645920"/>
            <a:ext cx="1828800" cy="201168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Input</a:t>
            </a:r>
            <a:br/>
            <a: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17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224x224 RGB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645920"/>
            <a:ext cx="1828800" cy="201168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ViT / EVA-CLIP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Vision Encoder</a:t>
            </a:r>
            <a:br/>
            <a:r>
              <a:t>~1B params</a:t>
            </a:r>
            <a:br/>
            <a:r>
              <a:t>float16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337560"/>
            <a:ext cx="1097280" cy="228600"/>
          </a:xfrm>
          <a:prstGeom prst="roundRect">
            <a:avLst/>
          </a:prstGeom>
          <a:solidFill>
            <a:srgbClr val="C0B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33558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645920"/>
            <a:ext cx="1828800" cy="201168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Q-Former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32 Learnable Queries</a:t>
            </a:r>
            <a:br/>
            <a:r>
              <a:t>Self+Cross Attn</a:t>
            </a:r>
            <a:br/>
            <a:r>
              <a:t>float16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37560"/>
            <a:ext cx="1097280" cy="228600"/>
          </a:xfrm>
          <a:prstGeom prst="roundRect">
            <a:avLst/>
          </a:prstGeom>
          <a:solidFill>
            <a:srgbClr val="6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33558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FROZEN &gt; S2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645920"/>
            <a:ext cx="1828800" cy="201168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MLP Projection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Linear-GELU-Linear</a:t>
            </a:r>
            <a:br/>
            <a:r>
              <a:t>+ LayerNorm</a:t>
            </a:r>
            <a:br/>
            <a:r>
              <a:t>float32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337560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3558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OUR ADDITION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645920"/>
            <a:ext cx="1828800" cy="201168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BanglaT5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Encoder-Decoder</a:t>
            </a:r>
            <a:br/>
            <a:r>
              <a:t>8-bit quantized (bnb)</a:t>
            </a:r>
            <a:br/>
            <a:r>
              <a:t>+ LoRA r=64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337560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33558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8-BIT + LoRA+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148840" y="2468880"/>
            <a:ext cx="36576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4251960" y="2468880"/>
            <a:ext cx="36576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6355080" y="2468880"/>
            <a:ext cx="36576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8458200" y="2468880"/>
            <a:ext cx="36576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698480" y="1920240"/>
            <a:ext cx="1188720" cy="137160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98480" y="2057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377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Bengali</a:t>
            </a:r>
            <a:br>
              <a:rPr dirty="0"/>
            </a:br>
            <a:r>
              <a:rPr dirty="0"/>
              <a:t>Caption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515600" y="2468880"/>
            <a:ext cx="22860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80" y="5852160"/>
            <a:ext cx="11247120" cy="848868"/>
          </a:xfrm>
          <a:prstGeom prst="roundRect">
            <a:avLst/>
          </a:prstGeom>
          <a:solidFill>
            <a:srgbClr val="EEE8DC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2000" y="6220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2314"/>
                </a:solidFill>
                <a:latin typeface="Calibri"/>
              </a:defRPr>
            </a:pPr>
            <a:r>
              <a:rPr dirty="0"/>
              <a:t>Precision Strategy:  </a:t>
            </a:r>
            <a:r>
              <a:rPr dirty="0" err="1"/>
              <a:t>ViT</a:t>
            </a:r>
            <a:r>
              <a:rPr dirty="0"/>
              <a:t>/Q-Former in fp16  |  MLP Projection in fp32  |  BanglaT5 in 8-bit (</a:t>
            </a:r>
            <a:r>
              <a:rPr dirty="0" err="1"/>
              <a:t>bitsandbytes</a:t>
            </a:r>
            <a:r>
              <a:rPr dirty="0"/>
              <a:t>)  |  LLM </a:t>
            </a:r>
            <a:r>
              <a:rPr dirty="0" err="1"/>
              <a:t>autocast</a:t>
            </a:r>
            <a:r>
              <a:rPr dirty="0"/>
              <a:t> in bfloat16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2314"/>
                </a:solidFill>
                <a:latin typeface="Georgia"/>
              </a:defRPr>
            </a:pPr>
            <a:r>
              <a:t>Two-Stage 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Preventing catastrophic forgetting while aligning a new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2286000"/>
          </a:xfrm>
          <a:prstGeom prst="roundRect">
            <a:avLst/>
          </a:prstGeom>
          <a:solidFill>
            <a:srgbClr val="F2EDE4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2314"/>
                </a:solidFill>
                <a:latin typeface="Calibri"/>
              </a:defRPr>
            </a:pPr>
            <a:r>
              <a:t>Stage 1: Cross-Modal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4C35"/>
                </a:solidFill>
                <a:latin typeface="Calibri"/>
              </a:defRPr>
            </a:pPr>
            <a:r>
              <a:t>Train ONLY the MLP projection  |  lr=2e-5  |  5 epochs  |  batch=96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011680" cy="105156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ViT/EVA-CLIP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Vision Encoder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131820"/>
            <a:ext cx="1097280" cy="228600"/>
          </a:xfrm>
          <a:prstGeom prst="roundRect">
            <a:avLst/>
          </a:prstGeom>
          <a:solidFill>
            <a:srgbClr val="C0B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623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FROZEN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269748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2377440"/>
            <a:ext cx="2011680" cy="101346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Q-Former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6655" y="27660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32 Query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080697"/>
            <a:ext cx="1097280" cy="228600"/>
          </a:xfrm>
          <a:prstGeom prst="roundRect">
            <a:avLst/>
          </a:prstGeom>
          <a:solidFill>
            <a:srgbClr val="C0B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840480" y="30861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FROZEN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86400" y="269748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35040" y="2324793"/>
            <a:ext cx="2036620" cy="107442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43701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MLP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179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Linear &gt; GELU &gt; Linear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971800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492240" y="298537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TRAINABLE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138160" y="269748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0" y="2324793"/>
            <a:ext cx="2103120" cy="107442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249624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BanglaT5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8-bit Quantized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6470" y="3074324"/>
            <a:ext cx="1097280" cy="228600"/>
          </a:xfrm>
          <a:prstGeom prst="roundRect">
            <a:avLst/>
          </a:prstGeom>
          <a:solidFill>
            <a:srgbClr val="C0B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9156470" y="308069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FROZEN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773190" y="3909060"/>
            <a:ext cx="457200" cy="457200"/>
          </a:xfrm>
          <a:prstGeom prst="down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2314"/>
                </a:solidFill>
                <a:latin typeface="Calibri"/>
              </a:defRPr>
            </a:pPr>
            <a:r>
              <a:rPr dirty="0"/>
              <a:t>warmup complete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11247120" cy="2103120"/>
          </a:xfrm>
          <a:prstGeom prst="roundRect">
            <a:avLst/>
          </a:prstGeom>
          <a:solidFill>
            <a:srgbClr val="EEE8DC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2314"/>
                </a:solidFill>
                <a:latin typeface="Calibri"/>
              </a:defRPr>
            </a:pPr>
            <a:r>
              <a:t>Stage 2: Generative Fine-Tuning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4C35"/>
                </a:solidFill>
                <a:latin typeface="Calibri"/>
              </a:defRPr>
            </a:pPr>
            <a:r>
              <a:t>LoRA+ differential lr  |  30 epochs  |  batch=64  |  gradient accumulation=2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2011680" cy="914400"/>
          </a:xfrm>
          <a:prstGeom prst="roundRect">
            <a:avLst/>
          </a:prstGeom>
          <a:solidFill>
            <a:srgbClr val="E8E0D4"/>
          </a:solidFill>
          <a:ln w="254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ViT/EVA-CLIP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594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Vision Encoder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897880"/>
            <a:ext cx="1097280" cy="228600"/>
          </a:xfrm>
          <a:prstGeom prst="roundRect">
            <a:avLst/>
          </a:prstGeom>
          <a:solidFill>
            <a:srgbClr val="C0B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34440" y="592240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FROZEN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834640" y="562356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ounded Rectangle 42"/>
          <p:cNvSpPr/>
          <p:nvPr/>
        </p:nvSpPr>
        <p:spPr>
          <a:xfrm>
            <a:off x="3383280" y="5303520"/>
            <a:ext cx="2011680" cy="91440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5367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Q-Former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23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+ Query Tokens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5897880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23855" y="590605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TRAINABLE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486400" y="562356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035040" y="5303520"/>
            <a:ext cx="2011680" cy="91440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17031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MLP Projection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64905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rPr dirty="0"/>
              <a:t>Linear &gt; GELU &gt; Linear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04710" y="5920740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6458990" y="594179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TRAINABLE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138160" y="5623560"/>
            <a:ext cx="457200" cy="27432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686800" y="5303520"/>
            <a:ext cx="2011680" cy="91440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0" y="5385926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BanglaT5 + </a:t>
            </a:r>
            <a:r>
              <a:rPr lang="en-US" dirty="0" err="1"/>
              <a:t>Q</a:t>
            </a:r>
            <a:r>
              <a:rPr dirty="0" err="1"/>
              <a:t>LoRA</a:t>
            </a:r>
            <a:r>
              <a:rPr lang="en-US" dirty="0"/>
              <a:t>+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8695113" y="562175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r=64, alpha=128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9720" y="5912344"/>
            <a:ext cx="1097280" cy="22860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9189720" y="593043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LoRA+ TUNED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215" y="0"/>
            <a:ext cx="129232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2314"/>
                </a:solidFill>
                <a:latin typeface="Georgia"/>
              </a:defRPr>
            </a:pPr>
            <a:r>
              <a:t>Technical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Part 1: Infrastructure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9217" y="1491621"/>
            <a:ext cx="5594813" cy="2978289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522" y="1562279"/>
            <a:ext cx="5029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GPU Memory on Kaggle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16222"/>
            <a:ext cx="528066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  </a:t>
            </a:r>
            <a:r>
              <a:rPr sz="1600" b="1" dirty="0"/>
              <a:t>Problem</a:t>
            </a:r>
            <a:r>
              <a:rPr sz="1600" dirty="0"/>
              <a:t>: Loading BLIP-2 </a:t>
            </a:r>
            <a:r>
              <a:rPr sz="1600" dirty="0" err="1"/>
              <a:t>ViT</a:t>
            </a:r>
            <a:r>
              <a:rPr sz="1600" dirty="0"/>
              <a:t> + Q-Former + BanglaT5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sz="1600" dirty="0"/>
              <a:t>    together exceeds T4 VRAM 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400" b="1" dirty="0"/>
              <a:t>Solution</a:t>
            </a:r>
            <a:r>
              <a:rPr lang="en-GB" sz="1400" dirty="0"/>
              <a:t>:  </a:t>
            </a:r>
            <a:r>
              <a:rPr lang="en-GB" sz="1400" dirty="0" err="1"/>
              <a:t>state_dict</a:t>
            </a:r>
            <a:r>
              <a:rPr lang="en-GB" sz="1400" dirty="0"/>
              <a:t>() override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400" dirty="0"/>
              <a:t>▸  Deletes unused BLIP-2 English decoder (Flan-T5-XL)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400" dirty="0"/>
              <a:t>▸   Saves only weights that change (</a:t>
            </a:r>
            <a:r>
              <a:rPr lang="en-GB" sz="1400" dirty="0" err="1"/>
              <a:t>LoRA</a:t>
            </a:r>
            <a:r>
              <a:rPr lang="en-GB" sz="1400" dirty="0"/>
              <a:t>, MLP, Q-Former)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400" dirty="0"/>
              <a:t>▸   Skips frozen </a:t>
            </a:r>
            <a:r>
              <a:rPr lang="en-GB" sz="1400" dirty="0" err="1"/>
              <a:t>ViT</a:t>
            </a:r>
            <a:r>
              <a:rPr lang="en-GB" sz="1400" dirty="0"/>
              <a:t> from checkpoint (saves ~2GB)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400" dirty="0"/>
              <a:t>▸    8-bit quantization (</a:t>
            </a:r>
            <a:r>
              <a:rPr lang="en-GB" sz="1400" dirty="0" err="1"/>
              <a:t>bitsandbytes</a:t>
            </a:r>
            <a:r>
              <a:rPr lang="en-GB" sz="1400" dirty="0"/>
              <a:t>) for BanglaT5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endParaRPr sz="1400" dirty="0"/>
          </a:p>
        </p:txBody>
      </p:sp>
      <p:sp>
        <p:nvSpPr>
          <p:cNvPr id="9" name="Rounded Rectangle 8"/>
          <p:cNvSpPr/>
          <p:nvPr/>
        </p:nvSpPr>
        <p:spPr>
          <a:xfrm>
            <a:off x="382772" y="4681372"/>
            <a:ext cx="5542152" cy="1810868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Georgia" panose="02040502050405020303" pitchFamily="18" charset="0"/>
              </a:rPr>
              <a:t>Problem: </a:t>
            </a:r>
            <a:r>
              <a:rPr lang="en-GB" sz="1400" dirty="0">
                <a:solidFill>
                  <a:schemeClr val="tx1"/>
                </a:solidFill>
                <a:latin typeface="Georgia" panose="02040502050405020303" pitchFamily="18" charset="0"/>
              </a:rPr>
              <a:t>HuggingFace fast tokenizer breaks conjunct chars fragments destroy morphology</a:t>
            </a:r>
            <a:endParaRPr sz="14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5724" y="482614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rPr dirty="0"/>
              <a:t>Bengali Tokenizer Corruption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583" y="4326790"/>
            <a:ext cx="5029200" cy="2262158"/>
          </a:xfrm>
          <a:prstGeom prst="rect">
            <a:avLst/>
          </a:prstGeom>
          <a:solidFill>
            <a:schemeClr val="bg2"/>
          </a:solidFill>
          <a:ln>
            <a:solidFill>
              <a:srgbClr val="A3603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2000" b="1" dirty="0"/>
              <a:t>Solution: Slow tokenizer + normalizer lib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</a:t>
            </a:r>
            <a:r>
              <a:rPr lang="en-GB" sz="1600" dirty="0" err="1"/>
              <a:t>AutoTokenizer</a:t>
            </a:r>
            <a:r>
              <a:rPr lang="en-GB" sz="1600" dirty="0"/>
              <a:t>(</a:t>
            </a:r>
            <a:r>
              <a:rPr lang="en-GB" sz="1600" dirty="0" err="1"/>
              <a:t>use_fast</a:t>
            </a:r>
            <a:r>
              <a:rPr lang="en-GB" sz="1600" dirty="0"/>
              <a:t>=False)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normalize() from </a:t>
            </a:r>
            <a:r>
              <a:rPr lang="en-GB" sz="1600" dirty="0" err="1"/>
              <a:t>csebuetnlp</a:t>
            </a:r>
            <a:r>
              <a:rPr lang="en-GB" sz="1600" dirty="0"/>
              <a:t>/normalizer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NFC </a:t>
            </a:r>
            <a:r>
              <a:rPr lang="en-GB" sz="1600" dirty="0" err="1"/>
              <a:t>unicode</a:t>
            </a:r>
            <a:r>
              <a:rPr lang="en-GB" sz="1600" dirty="0"/>
              <a:t> normalization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lang="en-GB" sz="1600" dirty="0"/>
              <a:t>▸     Removes ZWNJ/ZWJ/BOM artifacts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773269" y="1539649"/>
            <a:ext cx="4945343" cy="2070452"/>
          </a:xfrm>
          <a:prstGeom prst="roundRect">
            <a:avLst/>
          </a:prstGeom>
          <a:solidFill>
            <a:srgbClr val="F0EBE1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12 / 18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1BA618-48F2-50A4-7F01-524B9557B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16" y="1813969"/>
            <a:ext cx="4286848" cy="743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7BA6DE-EC07-7C08-FF85-E12505777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712" y="2714525"/>
            <a:ext cx="4286848" cy="714475"/>
          </a:xfrm>
          <a:prstGeom prst="rect">
            <a:avLst/>
          </a:prstGeom>
        </p:spPr>
      </p:pic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A7B2B43A-9214-AC55-D7B6-961A2317EF21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5924924" y="2574875"/>
            <a:ext cx="848345" cy="301193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A27EF4-85A9-F1D0-C704-151A4ABA2780}"/>
              </a:ext>
            </a:extLst>
          </p:cNvPr>
          <p:cNvCxnSpPr/>
          <p:nvPr/>
        </p:nvCxnSpPr>
        <p:spPr>
          <a:xfrm>
            <a:off x="9144000" y="3610101"/>
            <a:ext cx="0" cy="716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584" y="50137"/>
            <a:ext cx="9971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2314"/>
                </a:solidFill>
                <a:latin typeface="Georgia"/>
              </a:defRPr>
            </a:pPr>
            <a:r>
              <a:rPr dirty="0"/>
              <a:t>Mixed Precision &amp; </a:t>
            </a:r>
            <a:r>
              <a:rPr dirty="0" err="1"/>
              <a:t>NumericalStability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9595" y="6507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rPr dirty="0"/>
              <a:t>Why fp16 caused </a:t>
            </a:r>
            <a:r>
              <a:rPr dirty="0" err="1"/>
              <a:t>NaN</a:t>
            </a:r>
            <a:r>
              <a:rPr dirty="0"/>
              <a:t> and how bfloat16 fixes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89407" y="1065345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1371600"/>
          </a:xfrm>
          <a:prstGeom prst="roundRect">
            <a:avLst/>
          </a:prstGeom>
          <a:solidFill>
            <a:srgbClr val="F5E0DB"/>
          </a:solidFill>
          <a:ln w="25400">
            <a:solidFill>
              <a:srgbClr val="9C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9407" y="1435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2314"/>
                </a:solidFill>
                <a:latin typeface="Calibri"/>
              </a:defRPr>
            </a:pPr>
            <a:r>
              <a:t>float16 (fp16)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solidFill>
            <a:srgbClr val="9C3B3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97280" cy="365760"/>
          </a:xfrm>
          <a:prstGeom prst="rect">
            <a:avLst/>
          </a:prstGeom>
          <a:solidFill>
            <a:srgbClr val="B87333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5-bit Exp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737360"/>
            <a:ext cx="1645920" cy="365760"/>
          </a:xfrm>
          <a:prstGeom prst="rect">
            <a:avLst/>
          </a:prstGeom>
          <a:solidFill>
            <a:srgbClr val="70707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10-bit Mantissa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Range: 6e-5 to 65,504</a:t>
            </a:r>
            <a:br/>
            <a:r>
              <a:t>Only 10 orders of magnitude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371600"/>
            <a:ext cx="3474720" cy="1371600"/>
          </a:xfrm>
          <a:prstGeom prst="roundRect">
            <a:avLst/>
          </a:prstGeom>
          <a:solidFill>
            <a:srgbClr val="E5EDE0"/>
          </a:solidFill>
          <a:ln w="254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2314"/>
                </a:solidFill>
                <a:latin typeface="Calibri"/>
              </a:defRPr>
            </a:pPr>
            <a:r>
              <a:t>bfloat16 (bf16)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274320" cy="365760"/>
          </a:xfrm>
          <a:prstGeom prst="rect">
            <a:avLst/>
          </a:prstGeom>
          <a:solidFill>
            <a:srgbClr val="5A7C5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737360"/>
            <a:ext cx="1645920" cy="365760"/>
          </a:xfrm>
          <a:prstGeom prst="rect">
            <a:avLst/>
          </a:prstGeom>
          <a:solidFill>
            <a:srgbClr val="5A7C5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8-bit Exp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37360"/>
            <a:ext cx="1097280" cy="365760"/>
          </a:xfrm>
          <a:prstGeom prst="rect">
            <a:avLst/>
          </a:prstGeom>
          <a:solidFill>
            <a:srgbClr val="70707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7-bit Mant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Range: 1e-38 to 3.4e+38</a:t>
            </a:r>
            <a:br/>
            <a:r>
              <a:t>Same range as fp32!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371600"/>
            <a:ext cx="3474720" cy="1371600"/>
          </a:xfrm>
          <a:prstGeom prst="roundRect">
            <a:avLst/>
          </a:prstGeom>
          <a:solidFill>
            <a:srgbClr val="F2EDE4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2314"/>
                </a:solidFill>
                <a:latin typeface="Calibri"/>
              </a:defRPr>
            </a:pPr>
            <a:r>
              <a:t>float32 (fp32)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1737360"/>
            <a:ext cx="228600" cy="365760"/>
          </a:xfrm>
          <a:prstGeom prst="rect">
            <a:avLst/>
          </a:prstGeom>
          <a:solidFill>
            <a:srgbClr val="5A7C5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59" y="1783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9" y="1737360"/>
            <a:ext cx="1188720" cy="365760"/>
          </a:xfrm>
          <a:prstGeom prst="rect">
            <a:avLst/>
          </a:prstGeom>
          <a:solidFill>
            <a:srgbClr val="5A7C5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9" y="1783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8-bit Exp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19" y="1737360"/>
            <a:ext cx="1645920" cy="365760"/>
          </a:xfrm>
          <a:prstGeom prst="rect">
            <a:avLst/>
          </a:prstGeom>
          <a:solidFill>
            <a:srgbClr val="707070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46919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23-bit Mantissa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Range: 1e-38 to 3.4e+38</a:t>
            </a:r>
            <a:br/>
            <a:r>
              <a:t>Full precision (reference)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017520"/>
            <a:ext cx="11612880" cy="320040"/>
          </a:xfrm>
          <a:prstGeom prst="roundRect">
            <a:avLst/>
          </a:prstGeom>
          <a:solidFill>
            <a:srgbClr val="9C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30358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PROBLEM: fp16 training causes NaN at mixed-precision boundaries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474720"/>
            <a:ext cx="1737360" cy="59436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3493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ViT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749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3474720"/>
            <a:ext cx="1737360" cy="59436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0" y="3493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Q-Former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749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474720"/>
            <a:ext cx="1737360" cy="59436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97680" y="3493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MLP Proj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3749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fp32 (new)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3474720"/>
            <a:ext cx="1737360" cy="59436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3493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BanglaT5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749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8-bit (bnb)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3474720"/>
            <a:ext cx="1737360" cy="594360"/>
          </a:xfrm>
          <a:prstGeom prst="roundRect">
            <a:avLst/>
          </a:prstGeom>
          <a:solidFill>
            <a:srgbClr val="F5E0DB"/>
          </a:solidFill>
          <a:ln w="12700">
            <a:solidFill>
              <a:srgbClr val="9C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3493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Backward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749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fp16 grads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2011680" y="365760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ight Arrow 50"/>
          <p:cNvSpPr/>
          <p:nvPr/>
        </p:nvSpPr>
        <p:spPr>
          <a:xfrm>
            <a:off x="4023360" y="365760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6035040" y="365760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ight Arrow 52"/>
          <p:cNvSpPr/>
          <p:nvPr/>
        </p:nvSpPr>
        <p:spPr>
          <a:xfrm>
            <a:off x="8046720" y="365760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241280" y="3474720"/>
            <a:ext cx="1463040" cy="594360"/>
          </a:xfrm>
          <a:prstGeom prst="roundRect">
            <a:avLst/>
          </a:prstGeom>
          <a:solidFill>
            <a:srgbClr val="9C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41280" y="3584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NaN LOSS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10058400" y="3657600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0" y="40873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3B30"/>
                </a:solidFill>
                <a:latin typeface="Calibri"/>
              </a:defRPr>
            </a:pPr>
            <a:r>
              <a:t>fp16&gt;fp32&gt;8bit scale mismatch causes gradient overflow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4572000"/>
            <a:ext cx="11612880" cy="320040"/>
          </a:xfrm>
          <a:prstGeom prst="roundRect">
            <a:avLst/>
          </a:prstGeom>
          <a:solidFill>
            <a:srgbClr val="5A7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" y="459028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SOLUTION: Stage 1 = fp32 (no fp16), Stage 2 = bfloat16 autocast for LLM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029200"/>
            <a:ext cx="1737360" cy="59436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432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ViT 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fp16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0" y="5029200"/>
            <a:ext cx="1737360" cy="59436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8600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Q-Former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fp16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97680" y="5029200"/>
            <a:ext cx="1737360" cy="59436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29768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MLP Proj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fp32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09360" y="5029200"/>
            <a:ext cx="1737360" cy="594360"/>
          </a:xfrm>
          <a:prstGeom prst="roundRect">
            <a:avLst/>
          </a:prstGeom>
          <a:solidFill>
            <a:srgbClr val="E5EDE0"/>
          </a:solidFill>
          <a:ln w="127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6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autocast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t>bfloat16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21040" y="5029200"/>
            <a:ext cx="1737360" cy="594360"/>
          </a:xfrm>
          <a:prstGeom prst="roundRect">
            <a:avLst/>
          </a:prstGeom>
          <a:solidFill>
            <a:srgbClr val="E5EDE0"/>
          </a:solidFill>
          <a:ln w="127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BanglaT5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5303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4C35"/>
                </a:solidFill>
                <a:latin typeface="Calibri"/>
              </a:defRPr>
            </a:pPr>
            <a:r>
              <a:rPr dirty="0"/>
              <a:t>8-bit + bf16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2011680" y="521208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ight Arrow 75"/>
          <p:cNvSpPr/>
          <p:nvPr/>
        </p:nvSpPr>
        <p:spPr>
          <a:xfrm>
            <a:off x="4023360" y="521208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ight Arrow 76"/>
          <p:cNvSpPr/>
          <p:nvPr/>
        </p:nvSpPr>
        <p:spPr>
          <a:xfrm>
            <a:off x="6035040" y="521208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ight Arrow 77"/>
          <p:cNvSpPr/>
          <p:nvPr/>
        </p:nvSpPr>
        <p:spPr>
          <a:xfrm>
            <a:off x="8046720" y="5212080"/>
            <a:ext cx="27432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241280" y="5029200"/>
            <a:ext cx="1463040" cy="594360"/>
          </a:xfrm>
          <a:prstGeom prst="roundRect">
            <a:avLst/>
          </a:prstGeom>
          <a:solidFill>
            <a:srgbClr val="5A7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241280" y="5138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STABLE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10058400" y="5212080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0" y="56418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C50"/>
                </a:solidFill>
                <a:latin typeface="Calibri"/>
              </a:defRPr>
            </a:pPr>
            <a:r>
              <a:t>bfloat16 keeps fp32 exponent range (8 bits) -- no overflow at precision boundaries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9407" y="63550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2314"/>
                </a:solidFill>
                <a:latin typeface="Calibri"/>
              </a:defRPr>
            </a:pPr>
            <a:r>
              <a:rPr dirty="0"/>
              <a:t>S1: fp16=False  |  S2: fp16=True + </a:t>
            </a:r>
            <a:r>
              <a:rPr dirty="0" err="1"/>
              <a:t>autocast</a:t>
            </a:r>
            <a:r>
              <a:rPr dirty="0"/>
              <a:t>(bfloat16)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2314"/>
                </a:solidFill>
                <a:latin typeface="Georgia"/>
              </a:defRPr>
            </a:pPr>
            <a:r>
              <a:rPr dirty="0"/>
              <a:t>Key 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Parameter-efficient fine-tuning with iterative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1148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ra_plu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506" y="2765225"/>
            <a:ext cx="5599966" cy="3728881"/>
          </a:xfrm>
          <a:prstGeom prst="round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352896"/>
            <a:ext cx="2560320" cy="1280160"/>
          </a:xfrm>
          <a:prstGeom prst="roundRect">
            <a:avLst/>
          </a:prstGeom>
          <a:solidFill>
            <a:srgbClr val="F5E0C0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300" y="13944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Linear &gt;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677093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Single Linear layer replaced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with Linear-GELU-Linear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Richer cross-modal mapping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1828800" y="2684491"/>
            <a:ext cx="32004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5676" y="2970415"/>
            <a:ext cx="2560320" cy="1280160"/>
          </a:xfrm>
          <a:prstGeom prst="roundRect">
            <a:avLst/>
          </a:prstGeom>
          <a:solidFill>
            <a:srgbClr val="F5E0C0"/>
          </a:solidFill>
          <a:ln w="381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67640" y="305596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 err="1"/>
              <a:t>LoRA</a:t>
            </a:r>
            <a:r>
              <a:rPr dirty="0"/>
              <a:t> &gt; </a:t>
            </a:r>
            <a:r>
              <a:rPr dirty="0" err="1"/>
              <a:t>LoRA</a:t>
            </a:r>
            <a:r>
              <a:rPr dirty="0"/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836" y="3337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 err="1"/>
              <a:t>Hayou</a:t>
            </a:r>
            <a:r>
              <a:rPr dirty="0"/>
              <a:t> et al., ICML 2024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 err="1"/>
              <a:t>eta_B</a:t>
            </a:r>
            <a:r>
              <a:rPr dirty="0"/>
              <a:t> = 16 x </a:t>
            </a:r>
            <a:r>
              <a:rPr dirty="0" err="1"/>
              <a:t>eta_A</a:t>
            </a:r>
            <a:endParaRPr dirty="0"/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 err="1"/>
              <a:t>arXiv</a:t>
            </a:r>
            <a:r>
              <a:rPr dirty="0"/>
              <a:t>: 2402.12354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342" y="4673484"/>
            <a:ext cx="2560320" cy="1280160"/>
          </a:xfrm>
          <a:prstGeom prst="roundRect">
            <a:avLst/>
          </a:prstGeom>
          <a:solidFill>
            <a:srgbClr val="F2E5DE"/>
          </a:solidFill>
          <a:ln w="25400">
            <a:solidFill>
              <a:srgbClr val="9C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47153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DoRA &gt; Dropped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" y="4953693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No significant accuracy gain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Much slower training time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Complexity not justified</a:t>
            </a:r>
          </a:p>
        </p:txBody>
      </p:sp>
      <p:sp>
        <p:nvSpPr>
          <p:cNvPr id="17" name="Right Arrow 16"/>
          <p:cNvSpPr/>
          <p:nvPr/>
        </p:nvSpPr>
        <p:spPr>
          <a:xfrm rot="5400000">
            <a:off x="1855816" y="4355346"/>
            <a:ext cx="32004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566160" y="5611092"/>
            <a:ext cx="2560320" cy="1280160"/>
          </a:xfrm>
          <a:prstGeom prst="roundRect">
            <a:avLst/>
          </a:prstGeom>
          <a:solidFill>
            <a:srgbClr val="E5EDE0"/>
          </a:solidFill>
          <a:ln w="254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6318" y="5669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rPr dirty="0"/>
              <a:t>+ Normalizer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4978" y="60475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 err="1"/>
              <a:t>csebuetnlp</a:t>
            </a:r>
            <a:r>
              <a:rPr dirty="0"/>
              <a:t>/normalizer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Fixes broken conjuncts</a:t>
            </a:r>
          </a:p>
          <a:p>
            <a:pPr>
              <a:spcAft>
                <a:spcPts val="431"/>
              </a:spcAft>
              <a:defRPr sz="900">
                <a:solidFill>
                  <a:srgbClr val="6B4C35"/>
                </a:solidFill>
                <a:latin typeface="Georgia"/>
              </a:defRPr>
            </a:pPr>
            <a:r>
              <a:rPr dirty="0"/>
              <a:t>NFC + ZWNJ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11 / 18</a:t>
            </a:r>
          </a:p>
        </p:txBody>
      </p:sp>
      <p:sp>
        <p:nvSpPr>
          <p:cNvPr id="24" name="Right Arrow 16">
            <a:extLst>
              <a:ext uri="{FF2B5EF4-FFF2-40B4-BE49-F238E27FC236}">
                <a16:creationId xmlns:a16="http://schemas.microsoft.com/office/drawing/2014/main" id="{FD180757-32B3-D330-0A22-8904F6DAD048}"/>
              </a:ext>
            </a:extLst>
          </p:cNvPr>
          <p:cNvSpPr/>
          <p:nvPr/>
        </p:nvSpPr>
        <p:spPr>
          <a:xfrm rot="2033013">
            <a:off x="3188969" y="5922109"/>
            <a:ext cx="32004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95C8B04-F88A-3432-AE68-1B0B2701F15D}"/>
              </a:ext>
            </a:extLst>
          </p:cNvPr>
          <p:cNvCxnSpPr>
            <a:cxnSpLocks/>
          </p:cNvCxnSpPr>
          <p:nvPr/>
        </p:nvCxnSpPr>
        <p:spPr>
          <a:xfrm>
            <a:off x="3320598" y="3610495"/>
            <a:ext cx="3195908" cy="8766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A43758E-516B-A758-C30C-FA1C43A21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978" y="1367478"/>
            <a:ext cx="5626228" cy="1087548"/>
          </a:xfrm>
          <a:prstGeom prst="round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4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How we arrived at the final architecture through iterative experimentation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468880" cy="4389120"/>
          </a:xfrm>
          <a:prstGeom prst="roundRect">
            <a:avLst/>
          </a:prstGeom>
          <a:solidFill>
            <a:srgbClr val="F5E0DB"/>
          </a:solidFill>
          <a:ln w="25400">
            <a:solidFill>
              <a:srgbClr val="9C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3B3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2314"/>
                </a:solidFill>
                <a:latin typeface="Calibri"/>
              </a:defRPr>
            </a:pPr>
            <a:r>
              <a:t>ViT + BanglaT5</a:t>
            </a:r>
            <a:br/>
            <a:r>
              <a:t>(Direct)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10312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rPr dirty="0"/>
              <a:t>▸  Direct </a:t>
            </a:r>
            <a:r>
              <a:rPr dirty="0" err="1"/>
              <a:t>ViT</a:t>
            </a:r>
            <a:r>
              <a:rPr dirty="0"/>
              <a:t> to decoder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rPr dirty="0"/>
              <a:t>▸  Loss stuck 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rPr dirty="0"/>
              <a:t>▸  No convergence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rPr dirty="0"/>
              <a:t>▸  Modality gap too large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440680"/>
            <a:ext cx="2011680" cy="320040"/>
          </a:xfrm>
          <a:prstGeom prst="roundRect">
            <a:avLst/>
          </a:prstGeom>
          <a:solidFill>
            <a:srgbClr val="9C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468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FAILED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34640" y="2953789"/>
            <a:ext cx="457200" cy="32004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200400" y="1554480"/>
            <a:ext cx="2468880" cy="4389120"/>
          </a:xfrm>
          <a:prstGeom prst="roundRect">
            <a:avLst/>
          </a:prstGeom>
          <a:solidFill>
            <a:srgbClr val="F5E8D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7333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2314"/>
                </a:solidFill>
                <a:latin typeface="Calibri"/>
              </a:defRPr>
            </a:pPr>
            <a:r>
              <a:t>Experimentation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DoRA - no gain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Vision-LoRA - unstable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Gated Projection - poor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NEFTune - worse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All discarded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5440680"/>
            <a:ext cx="2011680" cy="32004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5468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DISCARDED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47207" y="2929544"/>
            <a:ext cx="457200" cy="32004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0" y="1554480"/>
            <a:ext cx="2468880" cy="4389120"/>
          </a:xfrm>
          <a:prstGeom prst="roundRect">
            <a:avLst/>
          </a:prstGeom>
          <a:solidFill>
            <a:srgbClr val="E5EDE0"/>
          </a:solidFill>
          <a:ln w="254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7C5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2314"/>
                </a:solidFill>
                <a:latin typeface="Calibri"/>
              </a:defRPr>
            </a:pPr>
            <a:r>
              <a:t>Pivot to</a:t>
            </a:r>
            <a:br/>
            <a:r>
              <a:t>BLIP-2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Q-Former bridges gap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Modality alignment solved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Loss finally drops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Key breakthrough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440680"/>
            <a:ext cx="2011680" cy="320040"/>
          </a:xfrm>
          <a:prstGeom prst="roundRect">
            <a:avLst/>
          </a:prstGeom>
          <a:solidFill>
            <a:srgbClr val="5A7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5468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BREAKTHROUGH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05953" y="2953789"/>
            <a:ext cx="457200" cy="32004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0" y="1554480"/>
            <a:ext cx="2468880" cy="4389120"/>
          </a:xfrm>
          <a:prstGeom prst="roundRect">
            <a:avLst/>
          </a:prstGeom>
          <a:solidFill>
            <a:srgbClr val="F5EEDC"/>
          </a:solidFill>
          <a:ln w="254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4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2314"/>
                </a:solidFill>
                <a:latin typeface="Calibri"/>
              </a:defRPr>
            </a:pPr>
            <a:r>
              <a:t>BBLIP</a:t>
            </a:r>
            <a:br/>
            <a:r>
              <a:t>(Final)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MLP replaces Linear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LoRA to LoRA+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+ Bengali Normalizer</a:t>
            </a:r>
          </a:p>
          <a:p>
            <a:pPr>
              <a:spcAft>
                <a:spcPts val="528"/>
              </a:spcAft>
              <a:defRPr sz="1100">
                <a:solidFill>
                  <a:srgbClr val="6B4C35"/>
                </a:solidFill>
                <a:latin typeface="Georgia"/>
              </a:defRPr>
            </a:pPr>
            <a:r>
              <a:t>▸  Stable convergence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440680"/>
            <a:ext cx="2011680" cy="320040"/>
          </a:xfrm>
          <a:prstGeom prst="roundRect">
            <a:avLst/>
          </a:prstGeom>
          <a:solidFill>
            <a:srgbClr val="B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5468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7C52"/>
                </a:solidFill>
                <a:latin typeface="Georgia"/>
              </a:defRPr>
            </a:pPr>
            <a:r>
              <a:t>End-to-end flow from raw data to Bengali caption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5720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103120" cy="86868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Images + Bengali Captions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1764792"/>
            <a:ext cx="27432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0" y="1463040"/>
            <a:ext cx="2103120" cy="868680"/>
          </a:xfrm>
          <a:prstGeom prst="roundRect">
            <a:avLst/>
          </a:prstGeom>
          <a:solidFill>
            <a:srgbClr val="E5EDE0"/>
          </a:solidFill>
          <a:ln w="254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csebuetnlp/normalizer</a:t>
            </a:r>
            <a:br/>
            <a:r>
              <a:t>NFC + ZWNJ cleanup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2040" y="1764792"/>
            <a:ext cx="27432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12080" y="1463040"/>
            <a:ext cx="2103120" cy="868680"/>
          </a:xfrm>
          <a:prstGeom prst="roundRect">
            <a:avLst/>
          </a:prstGeom>
          <a:solidFill>
            <a:srgbClr val="E5EDE0"/>
          </a:solidFill>
          <a:ln w="25400">
            <a:solidFill>
              <a:srgbClr val="5A7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Tokenize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BanglaT5 tokenizer</a:t>
            </a:r>
            <a:br/>
            <a:r>
              <a:t>use_fast=False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1764792"/>
            <a:ext cx="27432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80960" y="1463040"/>
            <a:ext cx="2103120" cy="86868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Collate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Pad + label masking</a:t>
            </a:r>
            <a:br/>
            <a:r>
              <a:t>Instruction templates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829800" y="1764792"/>
            <a:ext cx="274320" cy="22860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49840" y="1463040"/>
            <a:ext cx="1737360" cy="86868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1600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2314"/>
                </a:solidFill>
                <a:latin typeface="Calibri"/>
              </a:defRPr>
            </a:pPr>
            <a:r>
              <a:t>BLIP2 Processor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C35"/>
                </a:solidFill>
                <a:latin typeface="Calibri"/>
              </a:defRPr>
            </a:pPr>
            <a:r>
              <a:t>Image resize 224px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43600" y="2423160"/>
            <a:ext cx="320040" cy="320040"/>
          </a:xfrm>
          <a:prstGeom prst="down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74320" y="2834640"/>
            <a:ext cx="11612880" cy="1554480"/>
          </a:xfrm>
          <a:prstGeom prst="roundRect">
            <a:avLst/>
          </a:prstGeom>
          <a:solidFill>
            <a:srgbClr val="F2EDE4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2314"/>
                </a:solidFill>
                <a:latin typeface="Calibri"/>
              </a:defRPr>
            </a:pPr>
            <a:r>
              <a:t>STAGE 1: Cross-Modal Alignment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246120"/>
            <a:ext cx="1645920" cy="6400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pixel_values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3246120"/>
            <a:ext cx="1645920" cy="64008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45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ViT (frozen)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3246120"/>
            <a:ext cx="1645920" cy="64008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233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Q-Former (frozen)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246120"/>
            <a:ext cx="1645920" cy="64008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MLP Projection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246120"/>
            <a:ext cx="1645920" cy="64008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BanglaT5 (8-bit)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3246120"/>
            <a:ext cx="1645920" cy="6400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Loss (CE)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011680" y="344728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ight Arrow 40"/>
          <p:cNvSpPr/>
          <p:nvPr/>
        </p:nvSpPr>
        <p:spPr>
          <a:xfrm>
            <a:off x="3840480" y="344728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/>
          <p:cNvSpPr/>
          <p:nvPr/>
        </p:nvSpPr>
        <p:spPr>
          <a:xfrm>
            <a:off x="5669280" y="344728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42"/>
          <p:cNvSpPr/>
          <p:nvPr/>
        </p:nvSpPr>
        <p:spPr>
          <a:xfrm>
            <a:off x="7498079" y="344728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ght Arrow 43"/>
          <p:cNvSpPr/>
          <p:nvPr/>
        </p:nvSpPr>
        <p:spPr>
          <a:xfrm>
            <a:off x="9326880" y="344728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977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4C35"/>
                </a:solidFill>
                <a:latin typeface="Calibri"/>
              </a:defRPr>
            </a:pPr>
            <a:r>
              <a:t>lr=2e-5  |  5 epochs  |  batch=96  |  fp16=OFF (NaN prevention)  |  Only MLP trains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5760720" y="4434840"/>
            <a:ext cx="320040" cy="274320"/>
          </a:xfrm>
          <a:prstGeom prst="down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74320" y="4754880"/>
            <a:ext cx="11612880" cy="1737360"/>
          </a:xfrm>
          <a:prstGeom prst="roundRect">
            <a:avLst/>
          </a:prstGeom>
          <a:solidFill>
            <a:srgbClr val="EEE8DC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2314"/>
                </a:solidFill>
                <a:latin typeface="Calibri"/>
              </a:defRPr>
            </a:pPr>
            <a:r>
              <a:t>STAGE 2: Generative Fine-Tuning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166360"/>
            <a:ext cx="1645920" cy="6400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pixel_values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5166360"/>
            <a:ext cx="1645920" cy="640080"/>
          </a:xfrm>
          <a:prstGeom prst="roundRect">
            <a:avLst/>
          </a:prstGeom>
          <a:solidFill>
            <a:srgbClr val="E8E0D4"/>
          </a:solidFill>
          <a:ln w="12700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945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ViT (frozen)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23360" y="5166360"/>
            <a:ext cx="1645920" cy="64008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233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Q-Former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52160" y="5166360"/>
            <a:ext cx="1645920" cy="64008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MLP + LayerNorm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5166360"/>
            <a:ext cx="1645920" cy="640080"/>
          </a:xfrm>
          <a:prstGeom prst="roundRect">
            <a:avLst/>
          </a:prstGeom>
          <a:solidFill>
            <a:srgbClr val="F5E0C0"/>
          </a:solidFill>
          <a:ln w="12700">
            <a:solidFill>
              <a:srgbClr val="B8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809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BanglaT5 (8-bit)</a:t>
            </a:r>
            <a:br/>
            <a:r>
              <a:t>+ LoRA+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09760" y="5166360"/>
            <a:ext cx="1645920" cy="6400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3B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5097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2314"/>
                </a:solidFill>
                <a:latin typeface="Calibri"/>
              </a:defRPr>
            </a:pPr>
            <a:r>
              <a:t>Loss + Eval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2011680" y="536752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ight Arrow 61"/>
          <p:cNvSpPr/>
          <p:nvPr/>
        </p:nvSpPr>
        <p:spPr>
          <a:xfrm>
            <a:off x="3840480" y="536752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ight Arrow 62"/>
          <p:cNvSpPr/>
          <p:nvPr/>
        </p:nvSpPr>
        <p:spPr>
          <a:xfrm>
            <a:off x="5669280" y="536752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ight Arrow 63"/>
          <p:cNvSpPr/>
          <p:nvPr/>
        </p:nvSpPr>
        <p:spPr>
          <a:xfrm>
            <a:off x="7498079" y="536752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ight Arrow 64"/>
          <p:cNvSpPr/>
          <p:nvPr/>
        </p:nvSpPr>
        <p:spPr>
          <a:xfrm>
            <a:off x="9326880" y="5367528"/>
            <a:ext cx="228600" cy="182880"/>
          </a:xfrm>
          <a:prstGeom prst="rightArrow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023360" y="5852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4C35"/>
                </a:solidFill>
                <a:latin typeface="Calibri"/>
              </a:defRPr>
            </a:pPr>
            <a:r>
              <a:t>Unfreeze Q-Former</a:t>
            </a:r>
            <a:br/>
            <a:r>
              <a:t>+ query_tokens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5852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4C35"/>
                </a:solidFill>
                <a:latin typeface="Calibri"/>
              </a:defRPr>
            </a:pPr>
            <a:r>
              <a:t>gradient_checkpointing</a:t>
            </a:r>
            <a:br/>
            <a:r>
              <a:t>bfloat16 autocast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5852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4C35"/>
                </a:solidFill>
                <a:latin typeface="Calibri"/>
              </a:defRPr>
            </a:pPr>
            <a:r>
              <a:t>8-bit quantization</a:t>
            </a:r>
            <a:br/>
            <a:r>
              <a:t>4 param groups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5852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4C35"/>
                </a:solidFill>
                <a:latin typeface="Calibri"/>
              </a:defRPr>
            </a:pPr>
            <a:r>
              <a:t>BLEU / METEOR</a:t>
            </a:r>
            <a:br/>
            <a:r>
              <a:t>CIDEr scoring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4C35"/>
                </a:solidFill>
                <a:latin typeface="Calibri"/>
              </a:defRPr>
            </a:pPr>
            <a:r>
              <a:t>LoRA+ lr  |  30 epochs  |  batch=64  |  grad_accum=2  |  warmup=300  |  AdamW  |  max_grad_norm=1.0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7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67C52"/>
                </a:solidFill>
                <a:latin typeface="Georgia"/>
              </a:defRPr>
            </a:pPr>
            <a:r>
              <a:t>Three merged Bengali captioning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320040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-3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t>Flickr8k (Bengali)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8,000 original English images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Bengali captions from Kaggle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5 reference captions per image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Diverse scenes &amp; objects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kaggle.com/adityajn105/flickr8k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474720" cy="320040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-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7452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3484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t>BanglaLekha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017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dirty="0"/>
              <a:t>▸  1,333 unique images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dirty="0"/>
              <a:t>▸  6,665 captions (</a:t>
            </a:r>
            <a:r>
              <a:rPr lang="en-US" dirty="0"/>
              <a:t>2</a:t>
            </a:r>
            <a:r>
              <a:rPr dirty="0"/>
              <a:t> per image)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dirty="0"/>
              <a:t>▸  DSLR + smartphone captured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dirty="0"/>
              <a:t>▸  Diverse lighting &amp; quality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rPr dirty="0"/>
              <a:t>▸  Mendeley: rxxch9vw59/2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474720" cy="320040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-3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9" y="187452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83879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2314"/>
                </a:solidFill>
                <a:latin typeface="Georgia"/>
              </a:defRPr>
            </a:pPr>
            <a:r>
              <a:t>BNature Bengali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346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Nature &amp; outdoor scenes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5 human-annotated Bengali captions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Diverse natural settings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Unique cultural contexts</a:t>
            </a:r>
          </a:p>
          <a:p>
            <a:pPr>
              <a:spcAft>
                <a:spcPts val="576"/>
              </a:spcAft>
              <a:defRPr sz="1200">
                <a:solidFill>
                  <a:srgbClr val="6B4C35"/>
                </a:solidFill>
                <a:latin typeface="Georgia"/>
              </a:defRPr>
            </a:pPr>
            <a:r>
              <a:t>▸  kaggle.com/almominfaruk/bnature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F60F-527A-92CE-B8ED-99DFF89F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335A5090-D68C-5538-AAC5-893053D1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54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40DDB-9DAF-ED3C-26B1-97A3AFDCF971}"/>
              </a:ext>
            </a:extLst>
          </p:cNvPr>
          <p:cNvSpPr txBox="1"/>
          <p:nvPr/>
        </p:nvSpPr>
        <p:spPr>
          <a:xfrm>
            <a:off x="731520" y="365760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lang="en-US" dirty="0"/>
              <a:t>Training </a:t>
            </a:r>
            <a:r>
              <a:rPr dirty="0"/>
              <a:t>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E86AD9-9DBB-3F94-443A-212553067E77}"/>
              </a:ext>
            </a:extLst>
          </p:cNvPr>
          <p:cNvSpPr/>
          <p:nvPr/>
        </p:nvSpPr>
        <p:spPr>
          <a:xfrm>
            <a:off x="731520" y="137160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1AFB7-40DB-0DE0-F56D-BC1D33E8A2FE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16 / 18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4A9113-A45F-0F67-6B1E-B5B6BA78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9117"/>
            <a:ext cx="5976811" cy="3234509"/>
          </a:xfrm>
          <a:prstGeom prst="round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E89AC2-7EF6-AB5E-85BF-80D8CBBC0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31" y="2115161"/>
            <a:ext cx="6113469" cy="330846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40358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E88C-7F5C-BE1C-6C75-F167402C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B1308F98-4C3D-608F-E014-A90573B9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48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9A502-A229-2CEF-B1FA-8D130DF7FC5D}"/>
              </a:ext>
            </a:extLst>
          </p:cNvPr>
          <p:cNvSpPr txBox="1"/>
          <p:nvPr/>
        </p:nvSpPr>
        <p:spPr>
          <a:xfrm>
            <a:off x="731520" y="365760"/>
            <a:ext cx="9306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lang="en-US" dirty="0"/>
              <a:t>Evaluation On different Metrics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ECDD77-BF83-A5E2-3DE1-493660254B7B}"/>
              </a:ext>
            </a:extLst>
          </p:cNvPr>
          <p:cNvSpPr/>
          <p:nvPr/>
        </p:nvSpPr>
        <p:spPr>
          <a:xfrm>
            <a:off x="809492" y="1121617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13CED-A0E8-55EA-89BB-BF38F0B3B660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16 / 18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67506D0-2A55-7EE9-2E34-36A7547AAA74}"/>
              </a:ext>
            </a:extLst>
          </p:cNvPr>
          <p:cNvSpPr txBox="1"/>
          <p:nvPr/>
        </p:nvSpPr>
        <p:spPr>
          <a:xfrm>
            <a:off x="698500" y="1404858"/>
            <a:ext cx="10795000" cy="104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Georgia" panose="02040502050405020303" pitchFamily="34" charset="0"/>
                <a:cs typeface="Georgia" panose="02040502050405020303" pitchFamily="34" charset="0"/>
              </a:rPr>
              <a:t>BLEU (Bilingual Evaluation Understudy):</a:t>
            </a:r>
          </a:p>
          <a:p>
            <a:endParaRPr lang="en-US" altLang="en-US" dirty="0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r>
              <a:rPr lang="en-US" altLang="en-US" sz="2000" dirty="0">
                <a:latin typeface="Georgia" panose="02040502050405020303" pitchFamily="34" charset="0"/>
                <a:cs typeface="Georgia" panose="02040502050405020303" pitchFamily="34" charset="0"/>
              </a:rPr>
              <a:t>Measures n-gram overlap between generated and reference captions to evaluate precision.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B58D8A9-F95B-AD83-49CA-4EE4A46CA879}"/>
              </a:ext>
            </a:extLst>
          </p:cNvPr>
          <p:cNvSpPr txBox="1"/>
          <p:nvPr/>
        </p:nvSpPr>
        <p:spPr>
          <a:xfrm>
            <a:off x="698347" y="2939444"/>
            <a:ext cx="10795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>
                <a:latin typeface="Georgia" panose="02040502050405020303" pitchFamily="34" charset="0"/>
                <a:cs typeface="Georgia" panose="02040502050405020303" pitchFamily="34" charset="0"/>
              </a:rPr>
              <a:t>METEOR (Metric for Evaluation of Translation with Explicit Ordering):</a:t>
            </a:r>
          </a:p>
          <a:p>
            <a:endParaRPr lang="en-US" altLang="en-US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r>
              <a:rPr lang="en-US" altLang="en-US" sz="2000">
                <a:latin typeface="Georgia" panose="02040502050405020303" pitchFamily="34" charset="0"/>
                <a:cs typeface="Georgia" panose="02040502050405020303" pitchFamily="34" charset="0"/>
              </a:rPr>
              <a:t>Balances precision and recall using synonym and stemming matching for better human correlation.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2D0DB461-2B1E-45D0-D433-AD74AF8EB648}"/>
              </a:ext>
            </a:extLst>
          </p:cNvPr>
          <p:cNvSpPr txBox="1"/>
          <p:nvPr/>
        </p:nvSpPr>
        <p:spPr>
          <a:xfrm>
            <a:off x="698347" y="4739523"/>
            <a:ext cx="10795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>
                <a:latin typeface="Georgia" panose="02040502050405020303" pitchFamily="34" charset="0"/>
                <a:cs typeface="Georgia" panose="02040502050405020303" pitchFamily="34" charset="0"/>
              </a:rPr>
              <a:t>CIDEr (Consensus-based Image Description Evaluation):</a:t>
            </a:r>
          </a:p>
          <a:p>
            <a:endParaRPr lang="en-US" altLang="en-US" sz="2400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r>
              <a:rPr lang="en-US" altLang="en-US">
                <a:latin typeface="Georgia" panose="02040502050405020303" pitchFamily="34" charset="0"/>
                <a:cs typeface="Georgia" panose="02040502050405020303" pitchFamily="34" charset="0"/>
              </a:rPr>
              <a:t> </a:t>
            </a:r>
            <a:r>
              <a:rPr lang="en-US" altLang="en-US" sz="2000">
                <a:latin typeface="Georgia" panose="02040502050405020303" pitchFamily="34" charset="0"/>
                <a:cs typeface="Georgia" panose="02040502050405020303" pitchFamily="34" charset="0"/>
              </a:rPr>
              <a:t>Uses TF-IDF weighted n-gram consensus across human references, tailored for image captioning</a:t>
            </a:r>
            <a:r>
              <a:rPr lang="en-US" altLang="en-US">
                <a:latin typeface="Georgia" panose="02040502050405020303" pitchFamily="34" charset="0"/>
                <a:cs typeface="Georgia" panose="020405020504050203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378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48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306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/>
              </a:defRPr>
            </a:pPr>
            <a:r>
              <a:rPr lang="en-US" dirty="0"/>
              <a:t>Evaluation On different Metrics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09492" y="1121617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16 / 18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DF6C79-D418-2732-8CA0-F172CB07A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46" y="1311886"/>
            <a:ext cx="8869013" cy="2019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C653D0-9997-1007-A722-A95AE13F7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111" y="3916419"/>
            <a:ext cx="7503885" cy="2417359"/>
          </a:xfrm>
          <a:prstGeom prst="rect">
            <a:avLst/>
          </a:prstGeom>
        </p:spPr>
      </p:pic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0B393900-DAEB-4960-1D97-5622FE78C692}"/>
              </a:ext>
            </a:extLst>
          </p:cNvPr>
          <p:cNvSpPr/>
          <p:nvPr/>
        </p:nvSpPr>
        <p:spPr>
          <a:xfrm>
            <a:off x="653549" y="6400800"/>
            <a:ext cx="10136371" cy="36576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Paper:  Enhancing image caption generation through context-aware attention mechanism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1AEF4A75-4D1D-2F54-FA16-83D6D1D6BD40}"/>
              </a:ext>
            </a:extLst>
          </p:cNvPr>
          <p:cNvSpPr/>
          <p:nvPr/>
        </p:nvSpPr>
        <p:spPr>
          <a:xfrm>
            <a:off x="401912" y="3483638"/>
            <a:ext cx="11123781" cy="36576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GB" dirty="0">
                <a:solidFill>
                  <a:schemeClr val="tx1"/>
                </a:solidFill>
              </a:rPr>
              <a:t>aper: Bangla Image Caption Generation through CNN-Transformer Based Encoder-Decoder Network (</a:t>
            </a:r>
            <a:r>
              <a:rPr lang="en-GB" dirty="0" err="1">
                <a:solidFill>
                  <a:schemeClr val="tx1"/>
                </a:solidFill>
              </a:rPr>
              <a:t>BanglaLekha</a:t>
            </a:r>
            <a:r>
              <a:rPr lang="en-GB" dirty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 panose="02040502050405020303"/>
              </a:defRPr>
            </a:pPr>
            <a:r>
              <a:t>Results</a:t>
            </a:r>
            <a:r>
              <a:rPr lang="en-US"/>
              <a:t> on BanglaLekha Captions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873183" y="1132014"/>
            <a:ext cx="7150735" cy="88265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72640"/>
          <a:ext cx="10515600" cy="412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6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Configurations 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BLEU-1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BLEU-2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BLEU-3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BLEU-4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CIDEr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83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16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 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0.2788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0.1339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0.0731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0.0572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0.1879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0.1847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16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15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0.3757</a:t>
                      </a:r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0.2373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0.1210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0.0428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0.2932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0.5328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32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>
                        <a:sym typeface="+mn-ea"/>
                      </a:endParaRP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0.4652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0.3307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0.2259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0.1448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0.4085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1.1379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32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15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lang="en-US" sz="1300">
                        <a:sym typeface="+mn-ea"/>
                      </a:endParaRP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0.4366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0.3206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0.2325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0.1504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0.4058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1.0584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 panose="02040502050405020303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4767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 panose="02040502050405020303"/>
              </a:defRPr>
            </a:pPr>
            <a:r>
              <a:t>Results</a:t>
            </a:r>
            <a:r>
              <a:rPr lang="en-US"/>
              <a:t> on BanglaLekha Captions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803910" y="1102169"/>
            <a:ext cx="8693150" cy="762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794465"/>
              </p:ext>
            </p:extLst>
          </p:nvPr>
        </p:nvGraphicFramePr>
        <p:xfrm>
          <a:off x="731520" y="2146935"/>
          <a:ext cx="10515600" cy="412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6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Configurations 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BLEU-1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BLEU-2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BLEU-3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BLEU-4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CIDEr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 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0.4114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0.2654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0.1633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0.0955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0.3513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0.8298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20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Length Penalty : 1.5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.5079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0.3506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0.2369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0.1634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0.3946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1.0448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 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16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Length Penalty : 1.5</a:t>
                      </a:r>
                      <a:endParaRPr sz="1300" dirty="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 dirty="0">
                        <a:sym typeface="+mn-ea"/>
                      </a:endParaRP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0.5566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0.4020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0.2696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0.1805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0.4690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1.2189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 128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15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Length Penalty : 1.5</a:t>
                      </a:r>
                      <a:endParaRPr sz="1300" dirty="0">
                        <a:sym typeface="+mn-ea"/>
                      </a:endParaRPr>
                    </a:p>
                    <a:p>
                      <a:pPr>
                        <a:defRPr sz="1300" b="1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 dirty="0">
                        <a:sym typeface="+mn-ea"/>
                      </a:endParaRP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0.4641</a:t>
                      </a: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0.3304</a:t>
                      </a: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.2428</a:t>
                      </a: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.1735</a:t>
                      </a: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0.4022</a:t>
                      </a: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1.0826</a:t>
                      </a: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 panose="02040502050405020303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1"/>
            <a:ext cx="10795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 panose="02040502050405020303"/>
              </a:defRPr>
            </a:pPr>
            <a:r>
              <a:rPr dirty="0"/>
              <a:t>Results</a:t>
            </a:r>
            <a:r>
              <a:rPr lang="en-US" dirty="0"/>
              <a:t> on Flickr8k (Ban-cap) Dataset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804545" y="1168654"/>
            <a:ext cx="7150735" cy="88265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673064"/>
              </p:ext>
            </p:extLst>
          </p:nvPr>
        </p:nvGraphicFramePr>
        <p:xfrm>
          <a:off x="884129" y="2091107"/>
          <a:ext cx="104234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9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33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0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171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Configurations 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BLEU-1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BLEU-2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BLEU-3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BLEU-4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CIDEr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03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16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 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0.6117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0.4156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0.2606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0.1627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0.3579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0.4035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47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32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0.6298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0.4361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0.2883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0.1962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0.3659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0.4850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47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 Lora_r : 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>
                          <a:sym typeface="+mn-ea"/>
                        </a:rPr>
                        <a:t>Length Penalty : 0.4</a:t>
                      </a: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>
                        <a:sym typeface="+mn-ea"/>
                      </a:endParaRP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>
                        <a:sym typeface="+mn-ea"/>
                      </a:endParaRP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0.6659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0.4746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0.3216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0.2212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0.3994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0.5917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 panose="02040502050405020303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34F4-8851-0175-F0C6-6336E9D3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>
            <a:extLst>
              <a:ext uri="{FF2B5EF4-FFF2-40B4-BE49-F238E27FC236}">
                <a16:creationId xmlns:a16="http://schemas.microsoft.com/office/drawing/2014/main" id="{5A4E8C70-F71B-EDBB-58DE-6A7CA50A7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B91E96-B0B0-E814-395F-AF4435F58E5B}"/>
              </a:ext>
            </a:extLst>
          </p:cNvPr>
          <p:cNvSpPr txBox="1"/>
          <p:nvPr/>
        </p:nvSpPr>
        <p:spPr>
          <a:xfrm>
            <a:off x="731520" y="365760"/>
            <a:ext cx="94767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2314"/>
                </a:solidFill>
                <a:latin typeface="Georgia" panose="02040502050405020303"/>
              </a:defRPr>
            </a:pPr>
            <a:r>
              <a:rPr dirty="0"/>
              <a:t>Results</a:t>
            </a:r>
            <a:r>
              <a:rPr lang="en-US" dirty="0"/>
              <a:t> on </a:t>
            </a:r>
            <a:r>
              <a:rPr lang="en-US" dirty="0" err="1"/>
              <a:t>Bnature</a:t>
            </a:r>
            <a:r>
              <a:rPr lang="en-US" dirty="0"/>
              <a:t> Captions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B9B16-A11F-AB10-1846-329CE49F7D43}"/>
              </a:ext>
            </a:extLst>
          </p:cNvPr>
          <p:cNvSpPr/>
          <p:nvPr/>
        </p:nvSpPr>
        <p:spPr>
          <a:xfrm flipV="1">
            <a:off x="803910" y="1102169"/>
            <a:ext cx="8693150" cy="762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39292B-A20E-D8E6-6F48-5CDAD0776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2139"/>
              </p:ext>
            </p:extLst>
          </p:nvPr>
        </p:nvGraphicFramePr>
        <p:xfrm>
          <a:off x="731520" y="2146935"/>
          <a:ext cx="10515600" cy="342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6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rPr lang="en-US"/>
                        <a:t>Configurations 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endParaRPr lang="en-US"/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BLEU-1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BLEU-2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BLEU-3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BLEU-4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Georgia" panose="02040502050405020303"/>
                        </a:defRPr>
                      </a:pPr>
                      <a:r>
                        <a:t>CIDEr</a:t>
                      </a:r>
                    </a:p>
                  </a:txBody>
                  <a:tcPr>
                    <a:solidFill>
                      <a:srgbClr val="3B23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 32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30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0.5216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0.3590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0.2501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0.1955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0.4250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0.5434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15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.5293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0.3602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0.2465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0.1872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0.4237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lang="en-US"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0.5342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r>
                        <a:rPr lang="en-US" sz="1300" dirty="0" err="1">
                          <a:sym typeface="+mn-ea"/>
                        </a:rPr>
                        <a:t>Lora_r</a:t>
                      </a:r>
                      <a:r>
                        <a:rPr lang="en-US" sz="1300" dirty="0">
                          <a:sym typeface="+mn-ea"/>
                        </a:rPr>
                        <a:t> : 64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Epoch Stage-2 : 10</a:t>
                      </a:r>
                    </a:p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endParaRPr sz="1300" dirty="0">
                        <a:sym typeface="+mn-ea"/>
                      </a:endParaRP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0.5597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0.3894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0.2614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0.1909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0.4373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r>
                        <a:rPr lang="en-US" dirty="0"/>
                        <a:t>0.5591</a:t>
                      </a:r>
                    </a:p>
                  </a:txBody>
                  <a:tcPr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B2314"/>
                          </a:solidFill>
                          <a:latin typeface="Georgia" panose="02040502050405020303"/>
                        </a:defRPr>
                      </a:pPr>
                      <a:r>
                        <a:rPr lang="en-US" sz="1300" dirty="0">
                          <a:sym typeface="+mn-ea"/>
                        </a:rPr>
                        <a:t> </a:t>
                      </a:r>
                      <a:endParaRPr sz="1300" dirty="0">
                        <a:sym typeface="+mn-ea"/>
                      </a:endParaRPr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/>
                    </a:p>
                  </a:txBody>
                  <a:tcPr>
                    <a:solidFill>
                      <a:srgbClr val="F0E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B4C35"/>
                          </a:solidFill>
                          <a:latin typeface="Georgia" panose="02040502050405020303"/>
                        </a:defRPr>
                      </a:pPr>
                      <a:endParaRPr dirty="0"/>
                    </a:p>
                  </a:txBody>
                  <a:tcPr>
                    <a:solidFill>
                      <a:srgbClr val="F0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770AF0-523F-C683-AE94-87109DCEE66E}"/>
              </a:ext>
            </a:extLst>
          </p:cNvPr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 panose="02040502050405020303"/>
              </a:defRPr>
            </a:pPr>
            <a: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682305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B2314"/>
                </a:solidFill>
                <a:latin typeface="Georgia"/>
              </a:defRPr>
            </a:pPr>
            <a:r>
              <a:t>Qualitative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F0EBE1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914400"/>
          </a:xfrm>
          <a:prstGeom prst="round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7C52"/>
                </a:solidFill>
                <a:latin typeface="Georgia"/>
              </a:defRPr>
            </a:pPr>
            <a:r>
              <a:t>Generated: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Georgia"/>
              </a:defRPr>
            </a:pPr>
            <a:r>
              <a:rPr lang="as-IN" sz="1200" dirty="0"/>
              <a:t>দুটি ছোট মেয়ে বাইরে একটি বেঞ্চে বসে চকোলেট খাচ্ছে</a:t>
            </a:r>
          </a:p>
          <a:p>
            <a:pPr>
              <a:defRPr sz="1200" b="0">
                <a:solidFill>
                  <a:srgbClr val="FFFFFF"/>
                </a:solidFill>
                <a:latin typeface="Georgia"/>
              </a:defRPr>
            </a:pPr>
            <a:endParaRPr lang="as-IN" sz="1200" dirty="0"/>
          </a:p>
          <a:p>
            <a:pPr algn="l">
              <a:defRPr sz="1200" b="0">
                <a:solidFill>
                  <a:srgbClr val="FFFFFF"/>
                </a:solidFill>
                <a:latin typeface="Georgia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04800" y="5257800"/>
            <a:ext cx="3880658" cy="1438102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2314"/>
                </a:solidFill>
                <a:latin typeface="Georgia"/>
              </a:defRPr>
            </a:pPr>
            <a:r>
              <a:t>Reference: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463" y="5439010"/>
            <a:ext cx="342945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as-IN" sz="1100" dirty="0"/>
              <a:t>[</a:t>
            </a:r>
            <a:r>
              <a:rPr lang="en-US" sz="1100" dirty="0"/>
              <a:t>1</a:t>
            </a:r>
            <a:r>
              <a:rPr lang="as-IN" sz="1100" dirty="0"/>
              <a:t>] এক যুবতী</a:t>
            </a:r>
            <a:r>
              <a:rPr lang="en-US" sz="1100" dirty="0"/>
              <a:t> </a:t>
            </a:r>
            <a:r>
              <a:rPr lang="as-IN" sz="1100" dirty="0"/>
              <a:t>মেয়ে ফল খায় এবং অন্যটি চকোলেট খায়।</a:t>
            </a:r>
          </a:p>
          <a:p>
            <a:pPr fontAlgn="base" latinLnBrk="1"/>
            <a:r>
              <a:rPr lang="as-IN" sz="1100" dirty="0"/>
              <a:t>[</a:t>
            </a:r>
            <a:r>
              <a:rPr lang="en-US" sz="1100" dirty="0"/>
              <a:t>2</a:t>
            </a:r>
            <a:r>
              <a:rPr lang="as-IN" sz="1100" dirty="0"/>
              <a:t>] দুই বাচ্চা খাবার খাচ্ছে</a:t>
            </a:r>
          </a:p>
          <a:p>
            <a:pPr fontAlgn="base" latinLnBrk="1"/>
            <a:r>
              <a:rPr lang="en-US" sz="1100" dirty="0"/>
              <a:t>[3</a:t>
            </a:r>
            <a:r>
              <a:rPr lang="as-IN" sz="1100" dirty="0"/>
              <a:t>] টুপি পরা দুই মেয়ে  ঘাসে বসে স্ন্যাকস খাচ্ছে</a:t>
            </a:r>
          </a:p>
          <a:p>
            <a:pPr fontAlgn="base" latinLnBrk="1"/>
            <a:r>
              <a:rPr lang="as-IN" sz="1100" dirty="0"/>
              <a:t>[</a:t>
            </a:r>
            <a:r>
              <a:rPr lang="en-US" sz="1100" dirty="0"/>
              <a:t>4</a:t>
            </a:r>
            <a:r>
              <a:rPr lang="as-IN" sz="1100" dirty="0"/>
              <a:t>] বেসবল ক্যাপ পড়া দুই মেয়ে বাইরে নাস্তা খাচ্ছে ।</a:t>
            </a:r>
          </a:p>
          <a:p>
            <a:pPr algn="l">
              <a:defRPr sz="1200" b="0">
                <a:solidFill>
                  <a:srgbClr val="6B4C35"/>
                </a:solidFill>
                <a:latin typeface="Georgia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114800" y="1371600"/>
            <a:ext cx="3474720" cy="2560320"/>
          </a:xfrm>
          <a:prstGeom prst="roundRect">
            <a:avLst/>
          </a:prstGeom>
          <a:solidFill>
            <a:srgbClr val="F0EBE1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4114800"/>
            <a:ext cx="3474720" cy="914400"/>
          </a:xfrm>
          <a:prstGeom prst="round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7C52"/>
                </a:solidFill>
                <a:latin typeface="Georgia"/>
              </a:defRPr>
            </a:pPr>
            <a:r>
              <a:t>Generated: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38912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Georgia"/>
              </a:defRPr>
            </a:pPr>
            <a:r>
              <a:rPr lang="as-IN" sz="1200" dirty="0"/>
              <a:t>একজন বৃদ্ধ লোক ফুটপাতে শুয়ে আছে</a:t>
            </a:r>
          </a:p>
          <a:p>
            <a:pPr algn="l">
              <a:defRPr sz="1200" b="0">
                <a:solidFill>
                  <a:srgbClr val="FFFFFF"/>
                </a:solidFill>
                <a:latin typeface="Georgia"/>
              </a:defRPr>
            </a:pP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273435" y="5257800"/>
            <a:ext cx="3474720" cy="91440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2314"/>
                </a:solidFill>
                <a:latin typeface="Georgia"/>
              </a:defRPr>
            </a:pPr>
            <a:r>
              <a:t>Reference: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486401"/>
            <a:ext cx="32710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en-GB" sz="1200" dirty="0"/>
              <a:t> [1] </a:t>
            </a:r>
            <a:r>
              <a:rPr lang="as-IN" sz="1200" dirty="0"/>
              <a:t>একজন পুরুষ শুয়ে আছে।</a:t>
            </a:r>
          </a:p>
          <a:p>
            <a:pPr fontAlgn="base" latinLnBrk="1"/>
            <a:r>
              <a:rPr lang="as-IN" sz="1200" dirty="0"/>
              <a:t>[2] একটি পাকা বেঞ্চে শুয়ে ঘুমিয়ে আছেন একজন বুড়ো পুরুষ মানুষ।</a:t>
            </a:r>
          </a:p>
          <a:p>
            <a:pPr algn="l">
              <a:defRPr sz="1200" b="0">
                <a:solidFill>
                  <a:srgbClr val="6B4C35"/>
                </a:solidFill>
                <a:latin typeface="Georgia"/>
              </a:defRPr>
            </a:pP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772400" y="1371600"/>
            <a:ext cx="3474720" cy="2560320"/>
          </a:xfrm>
          <a:prstGeom prst="roundRect">
            <a:avLst/>
          </a:prstGeom>
          <a:solidFill>
            <a:srgbClr val="F0EBE1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0" y="4114800"/>
            <a:ext cx="3474720" cy="914400"/>
          </a:xfrm>
          <a:prstGeom prst="round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7C52"/>
                </a:solidFill>
                <a:latin typeface="Georgia"/>
              </a:defRPr>
            </a:pPr>
            <a:r>
              <a:t>Generated: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38912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Georgia"/>
              </a:defRPr>
            </a:pPr>
            <a:r>
              <a:rPr lang="as-IN" sz="1200" dirty="0"/>
              <a:t>আয়নাতে একজন মানুষের মুখ দেখা যাচ্ছে।</a:t>
            </a:r>
          </a:p>
          <a:p>
            <a:pPr algn="l">
              <a:defRPr sz="1200" b="0">
                <a:solidFill>
                  <a:srgbClr val="FFFFFF"/>
                </a:solidFill>
                <a:latin typeface="Georgia"/>
              </a:defRPr>
            </a:pP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909558" y="5212080"/>
            <a:ext cx="3611880" cy="91440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2314"/>
                </a:solidFill>
                <a:latin typeface="Georgia"/>
              </a:defRPr>
            </a:pPr>
            <a:r>
              <a:t>Reference: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5486401"/>
            <a:ext cx="3611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as-IN" sz="1200" dirty="0"/>
              <a:t> [1] আয়নাতে একজন মানুষের প্রতিচ্ছবি দেখা যাচ্ছে।</a:t>
            </a:r>
          </a:p>
          <a:p>
            <a:pPr fontAlgn="base" latinLnBrk="1"/>
            <a:r>
              <a:rPr lang="as-IN" sz="1200" dirty="0"/>
              <a:t> [2] একটি আয়নায় একজন পুরুষ মানুষের মুখ দেখা যায়।</a:t>
            </a:r>
          </a:p>
          <a:p>
            <a:pPr algn="l">
              <a:defRPr sz="1200" b="0">
                <a:solidFill>
                  <a:srgbClr val="6B4C35"/>
                </a:solidFill>
                <a:latin typeface="Georgia"/>
              </a:defRPr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16 / 17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910E890-69C1-4A01-C4D6-C0B08D3B0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45924"/>
            <a:ext cx="2964873" cy="2434571"/>
          </a:xfrm>
          <a:prstGeom prst="round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59F6380-F629-A5C4-CB79-D4F0D4732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1" y="1366193"/>
            <a:ext cx="2966258" cy="2555432"/>
          </a:xfrm>
          <a:prstGeom prst="round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F0E7C2E-1A5D-909D-0673-32D5251E2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49" y="1462656"/>
            <a:ext cx="2810262" cy="2401105"/>
          </a:xfrm>
          <a:prstGeom prst="round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-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731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2314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463040"/>
            <a:ext cx="3931920" cy="38100"/>
          </a:xfrm>
          <a:prstGeom prst="rect">
            <a:avLst/>
          </a:prstGeom>
          <a:solidFill>
            <a:srgbClr val="3B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Successfully adapted BLIP-2 for native Bengali image captioning</a:t>
            </a:r>
          </a:p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Q-Former bridges the vision–language modality gap — the key breakthrough</a:t>
            </a:r>
          </a:p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Custom MLP projection (Linear-GELU-Linear) maps to BanglaT5 embedding space</a:t>
            </a:r>
          </a:p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LoRA+ with differential learning rates (η_B = 16×η_A) for efficient fine-tuning</a:t>
            </a:r>
          </a:p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Custom state_dict enables training on limited Kaggle T4 GPUs</a:t>
            </a:r>
          </a:p>
          <a:p>
            <a:pPr>
              <a:spcAft>
                <a:spcPts val="768"/>
              </a:spcAft>
              <a:defRPr sz="1600">
                <a:solidFill>
                  <a:srgbClr val="6B4C35"/>
                </a:solidFill>
                <a:latin typeface="Georgia"/>
              </a:defRPr>
            </a:pPr>
            <a:r>
              <a:t>▸  Solved Bengali tokenizer issues with normalizer + slow tokenizer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9280" y="4206240"/>
            <a:ext cx="8503920" cy="1463040"/>
          </a:xfrm>
          <a:prstGeom prst="roundRect">
            <a:avLst/>
          </a:prstGeom>
          <a:solidFill>
            <a:srgbClr val="FDFAF5"/>
          </a:solidFill>
          <a:ln w="25400"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2314"/>
                </a:solidFill>
                <a:latin typeface="Georgia"/>
              </a:defRPr>
            </a:pPr>
            <a:r>
              <a:t>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463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6B4C35"/>
                </a:solidFill>
                <a:latin typeface="Georgia"/>
              </a:defRPr>
            </a:pPr>
            <a:r>
              <a:rPr dirty="0"/>
              <a:t>▸  Larger Bengali captioning datasets  ·  Cultural context evaluation metrics</a:t>
            </a:r>
          </a:p>
          <a:p>
            <a:pPr>
              <a:spcAft>
                <a:spcPts val="672"/>
              </a:spcAft>
              <a:defRPr sz="1400">
                <a:solidFill>
                  <a:srgbClr val="6B4C35"/>
                </a:solidFill>
                <a:latin typeface="Georgia"/>
              </a:defRPr>
            </a:pPr>
            <a:r>
              <a:rPr dirty="0"/>
              <a:t>▸  </a:t>
            </a:r>
            <a:r>
              <a:rPr dirty="0" err="1"/>
              <a:t>BiGRU</a:t>
            </a:r>
            <a:r>
              <a:rPr dirty="0"/>
              <a:t> module refinement (explored but needs more data)  ·  Multimodal Bengali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943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2314"/>
                </a:solidFill>
                <a:latin typeface="Georgia"/>
              </a:defRPr>
            </a:pPr>
            <a:r>
              <a:t>Thank You  ·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67C52"/>
                </a:solidFill>
                <a:latin typeface="Georgia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2EF0998C0FD5458491B7BD1DB5A06D" ma:contentTypeVersion="6" ma:contentTypeDescription="Create a new document." ma:contentTypeScope="" ma:versionID="eaa1c06554870f0bf5f2cc9abdf51b63">
  <xsd:schema xmlns:xsd="http://www.w3.org/2001/XMLSchema" xmlns:xs="http://www.w3.org/2001/XMLSchema" xmlns:p="http://schemas.microsoft.com/office/2006/metadata/properties" xmlns:ns3="1cae1180-1625-432d-9564-536efa86ebf4" targetNamespace="http://schemas.microsoft.com/office/2006/metadata/properties" ma:root="true" ma:fieldsID="9740dc5acf31415c71fa91b34539f102" ns3:_="">
    <xsd:import namespace="1cae1180-1625-432d-9564-536efa86ebf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e1180-1625-432d-9564-536efa86ebf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ae1180-1625-432d-9564-536efa86ebf4" xsi:nil="true"/>
  </documentManagement>
</p:properties>
</file>

<file path=customXml/itemProps1.xml><?xml version="1.0" encoding="utf-8"?>
<ds:datastoreItem xmlns:ds="http://schemas.openxmlformats.org/officeDocument/2006/customXml" ds:itemID="{AE5347A2-F2E6-4D62-B167-E6E4D48366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D1303D-F7BA-4684-8849-50FD8A94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ae1180-1625-432d-9564-536efa86eb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EDDD6E-40D4-4266-BBE9-CF460B5605A2}">
  <ds:schemaRefs>
    <ds:schemaRef ds:uri="http://purl.org/dc/dcmitype/"/>
    <ds:schemaRef ds:uri="http://www.w3.org/XML/1998/namespace"/>
    <ds:schemaRef ds:uri="http://schemas.microsoft.com/office/2006/documentManagement/types"/>
    <ds:schemaRef ds:uri="1cae1180-1625-432d-9564-536efa86ebf4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2274</Words>
  <Application>Microsoft Office PowerPoint</Application>
  <PresentationFormat>Widescreen</PresentationFormat>
  <Paragraphs>607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suprio</dc:creator>
  <cp:keywords/>
  <dc:description>generated using python-pptx</dc:description>
  <cp:lastModifiedBy>2105085 - Suprio Paul</cp:lastModifiedBy>
  <cp:revision>6</cp:revision>
  <dcterms:created xsi:type="dcterms:W3CDTF">2013-01-27T09:14:16Z</dcterms:created>
  <dcterms:modified xsi:type="dcterms:W3CDTF">2026-04-04T07:53:06Z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0x010100F72EF0998C0FD5458491B7BD1DB5A06D</vt:lpwstr>
  </property>
</Properties>
</file>